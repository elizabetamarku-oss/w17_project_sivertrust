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5143500" cy="9144000"/>
  <p:embeddedFontLst>
    <p:embeddedFont>
      <p:font typeface="Montserrat"/>
      <p:regular r:id="rId22"/>
      <p:bold r:id="rId23"/>
      <p:italic r:id="rId24"/>
      <p:boldItalic r:id="rId25"/>
    </p:embeddedFont>
    <p:embeddedFont>
      <p:font typeface="Inter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E4FFC3-B922-43FF-9351-6FB831DCD6CF}">
  <a:tblStyle styleId="{ECE4FFC3-B922-43FF-9351-6FB831DCD6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Montserrat-regular.fntdata"/><Relationship Id="rId21" Type="http://schemas.openxmlformats.org/officeDocument/2006/relationships/slide" Target="slides/slide16.xml"/><Relationship Id="rId24" Type="http://schemas.openxmlformats.org/officeDocument/2006/relationships/font" Target="fonts/Montserrat-italic.fntdata"/><Relationship Id="rId23" Type="http://schemas.openxmlformats.org/officeDocument/2006/relationships/font" Target="fonts/Montserrat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-regular.fntdata"/><Relationship Id="rId25" Type="http://schemas.openxmlformats.org/officeDocument/2006/relationships/font" Target="fonts/Montserrat-boldItalic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f9ba03ce95_3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g3f9ba03ce95_3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f9ba03ce95_3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6" name="Google Shape;52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cs.google.com/spreadsheets/d/1eMCPGz1_WzjifeD4mUaXmZc_8EYr0cCVpo6Mu7p9HAU/edit?usp=drive_link" TargetMode="External"/><Relationship Id="rId5" Type="http://schemas.openxmlformats.org/officeDocument/2006/relationships/hyperlink" Target="https://docs.google.com/spreadsheets/d/1eMCPGz1_WzjifeD4mUaXmZc_8EYr0cCVpo6Mu7p9HAU/edit?usp=drive_link" TargetMode="External"/><Relationship Id="rId6" Type="http://schemas.openxmlformats.org/officeDocument/2006/relationships/hyperlink" Target="https://docs.google.com/spreadsheets/d/1eMCPGz1_WzjifeD4mUaXmZc_8EYr0cCVpo6Mu7p9HAU/edit?usp=drive_link" TargetMode="External"/><Relationship Id="rId7" Type="http://schemas.openxmlformats.org/officeDocument/2006/relationships/hyperlink" Target="https://docs.google.com/spreadsheets/d/1eMCPGz1_WzjifeD4mUaXmZc_8EYr0cCVpo6Mu7p9HAU/edit?usp=drive_link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hyperlink" Target="https://docs.google.com/spreadsheets/d/1eMCPGz1_WzjifeD4mUaXmZc_8EYr0cCVpo6Mu7p9HAU/edit?usp=drive_link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92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F3F6F8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457200" y="96012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Proposal for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silvertrust/transiberia/asset_transiberia_logo.png" id="19" name="Google Shape;1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33420" y="923550"/>
            <a:ext cx="338328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/>
          <p:nvPr/>
        </p:nvSpPr>
        <p:spPr>
          <a:xfrm>
            <a:off x="457200" y="1371600"/>
            <a:ext cx="50019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Montserrat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Automated Infrastructure &amp; Proactive Exception Tracking for Transiberia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457200" y="34290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05/09/2026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5623560" y="9601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Inter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PRESENTED BY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silvertrust/transiberia/asset_headshot_ioanna.png" id="23" name="Google Shape;2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23560" y="132588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/>
          <p:nvPr/>
        </p:nvSpPr>
        <p:spPr>
          <a:xfrm>
            <a:off x="6355080" y="1298448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Ioanna Renta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6355080" y="1527048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Sr AI Consultant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6355080" y="1746504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20+ years of experience in logistics and retail sectors transforming operations and leading engineering teams.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silvertrust/transiberia/asset_headshot_elizabeta.png" id="27" name="Google Shape;27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23560" y="251460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3"/>
          <p:cNvSpPr txBox="1"/>
          <p:nvPr/>
        </p:nvSpPr>
        <p:spPr>
          <a:xfrm>
            <a:off x="6355080" y="2487168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Elizabeta Marku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6355080" y="2715768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Integration Consultant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 txBox="1"/>
          <p:nvPr/>
        </p:nvSpPr>
        <p:spPr>
          <a:xfrm>
            <a:off x="6355080" y="2935224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10+ years of experience automating business operations and connecting systems together.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92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36" name="Google Shape;3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4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F3F6F8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Executive Context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What We Heard: Baseline &amp; Goals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57200" y="1234440"/>
            <a:ext cx="2590800" cy="3291840"/>
          </a:xfrm>
          <a:prstGeom prst="roundRect">
            <a:avLst>
              <a:gd fmla="val 2118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457200" y="1307592"/>
            <a:ext cx="41148" cy="3145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 txBox="1"/>
          <p:nvPr/>
        </p:nvSpPr>
        <p:spPr>
          <a:xfrm>
            <a:off x="658368" y="1417320"/>
            <a:ext cx="2225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BASELINE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 txBox="1"/>
          <p:nvPr/>
        </p:nvSpPr>
        <p:spPr>
          <a:xfrm>
            <a:off x="640080" y="1691640"/>
            <a:ext cx="222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Montserrat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1,000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 txBox="1"/>
          <p:nvPr/>
        </p:nvSpPr>
        <p:spPr>
          <a:xfrm>
            <a:off x="658368" y="2331720"/>
            <a:ext cx="2225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Weekly Loads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658368" y="2651760"/>
            <a:ext cx="2188464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1050"/>
              <a:buFont typeface="Inter"/>
              <a:buNone/>
            </a:pP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Transiberia coordinates shipments across Spain and Portugal since 1987. Operating as a</a:t>
            </a:r>
            <a:r>
              <a:rPr b="1" i="0" lang="en-US" sz="10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 freight forwarder</a:t>
            </a: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 without an active fleet, 120 employees manage 1,000 weekly loads.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3276600" y="1234440"/>
            <a:ext cx="2590800" cy="3291840"/>
          </a:xfrm>
          <a:prstGeom prst="roundRect">
            <a:avLst>
              <a:gd fmla="val 2118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3276600" y="1307592"/>
            <a:ext cx="41148" cy="3145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 txBox="1"/>
          <p:nvPr/>
        </p:nvSpPr>
        <p:spPr>
          <a:xfrm>
            <a:off x="3477768" y="1417320"/>
            <a:ext cx="2225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CHALLENGES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3459480" y="1691640"/>
            <a:ext cx="222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Montserrat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5%–6%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3477768" y="2331720"/>
            <a:ext cx="2225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Compressed Margins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3477768" y="2651760"/>
            <a:ext cx="2188464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1050"/>
              <a:buFont typeface="Inter"/>
              <a:buNone/>
            </a:pP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Currently, margins are compressed to 5%–6% per pallet due to global competition, pushing operations into a </a:t>
            </a:r>
            <a:r>
              <a:rPr b="1" i="0" lang="en-US" sz="10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non-profitable state</a:t>
            </a: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Core infrastructure relies on a legacy 2005 SAP framework and fragmented manual channels like WhatsApp and Excel.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096000" y="1234440"/>
            <a:ext cx="2590800" cy="3291840"/>
          </a:xfrm>
          <a:prstGeom prst="roundRect">
            <a:avLst>
              <a:gd fmla="val 2118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6096000" y="1307592"/>
            <a:ext cx="41148" cy="3145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"/>
          <p:cNvSpPr txBox="1"/>
          <p:nvPr/>
        </p:nvSpPr>
        <p:spPr>
          <a:xfrm>
            <a:off x="6297168" y="1417320"/>
            <a:ext cx="2225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12-MONTH TARGETS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6278880" y="1691640"/>
            <a:ext cx="222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Montserrat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+25%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6297168" y="2331720"/>
            <a:ext cx="2225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Volume Scale Target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6297168" y="2651760"/>
            <a:ext cx="2188464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1050"/>
              <a:buFont typeface="Inter"/>
              <a:buNone/>
            </a:pP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Over the next 12 months, leadership targets a 25% volume scale to </a:t>
            </a:r>
            <a:r>
              <a:rPr b="1" i="0" lang="en-US" sz="10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1,250–1,500 weekly loads</a:t>
            </a: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, and a </a:t>
            </a:r>
            <a:r>
              <a:rPr b="1" i="0" lang="en-US" sz="10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35%–40% revenue expansion</a:t>
            </a:r>
            <a:r>
              <a:rPr b="0" i="0" lang="en-US" sz="10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63" name="Google Shape;6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The Core Problem Statement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High cost of operational blind spots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7200" y="1234440"/>
            <a:ext cx="3931920" cy="3291840"/>
          </a:xfrm>
          <a:prstGeom prst="roundRect">
            <a:avLst>
              <a:gd fmla="val 166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457200" y="1307592"/>
            <a:ext cx="41148" cy="3145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 txBox="1"/>
          <p:nvPr/>
        </p:nvSpPr>
        <p:spPr>
          <a:xfrm>
            <a:off x="658368" y="1417320"/>
            <a:ext cx="3566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TROUBLESHOOTING DRAIN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640080" y="1691640"/>
            <a:ext cx="3566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3400"/>
              <a:buFont typeface="Montserrat"/>
              <a:buNone/>
            </a:pPr>
            <a:r>
              <a:rPr b="1" i="0" lang="en-US" sz="3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20–30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658368" y="2331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HOURS LOST / WEEK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 txBox="1"/>
          <p:nvPr/>
        </p:nvSpPr>
        <p:spPr>
          <a:xfrm>
            <a:off x="658368" y="2651760"/>
            <a:ext cx="3529584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1050"/>
              <a:buFont typeface="Inter"/>
              <a:buNone/>
            </a:pPr>
            <a:r>
              <a:rPr b="0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 total lack of centralize</a:t>
            </a:r>
            <a:r>
              <a:rPr b="0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d visibility forces </a:t>
            </a:r>
            <a:r>
              <a:rPr b="1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reactive exception management</a:t>
            </a:r>
            <a:r>
              <a:rPr b="0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. Transport delays and missing shipments — averaging 3% to 5% of weekly loads — are only discovered after customer complaints or missed deadlines. This operational blind spot drains 20 to 30 hours per week in </a:t>
            </a:r>
            <a:r>
              <a:rPr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manual troubleshooting.</a:t>
            </a:r>
            <a:endParaRPr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4617720" y="1234440"/>
            <a:ext cx="4069080" cy="1536192"/>
          </a:xfrm>
          <a:prstGeom prst="roundRect">
            <a:avLst>
              <a:gd fmla="val 3571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617720" y="1307592"/>
            <a:ext cx="41148" cy="138988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 txBox="1"/>
          <p:nvPr/>
        </p:nvSpPr>
        <p:spPr>
          <a:xfrm>
            <a:off x="4818888" y="1399032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ADMIN COST INFLATION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4800600" y="1645920"/>
            <a:ext cx="3703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600"/>
              <a:buFont typeface="Montserrat"/>
              <a:buNone/>
            </a:pPr>
            <a:r>
              <a:rPr b="1" i="0" lang="en-US" sz="26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€80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4818888" y="2121408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OVERHEAD PER LOAD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4818888" y="2359152"/>
            <a:ext cx="366674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Administrative processing costs are inflated to €80 per load.</a:t>
            </a:r>
            <a:endParaRPr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617720" y="2916936"/>
            <a:ext cx="4069080" cy="1609344"/>
          </a:xfrm>
          <a:prstGeom prst="roundRect">
            <a:avLst>
              <a:gd fmla="val 3409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4617720" y="2990088"/>
            <a:ext cx="41148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5"/>
          <p:cNvSpPr txBox="1"/>
          <p:nvPr/>
        </p:nvSpPr>
        <p:spPr>
          <a:xfrm>
            <a:off x="4818888" y="3081528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FATAL PENALTY EXPOSURE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4800600" y="3328416"/>
            <a:ext cx="3703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Montserrat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€50,000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4818888" y="3803904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MAX RISK PER FATAL LOAD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4818888" y="4041648"/>
            <a:ext cx="366674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Critical incidents expose the company to catastrophic financial penalties of up to €50,000 per fatal load.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90" name="Google Shape;9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6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The Cost of Operating As-Is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Why cost efficiency is the fastest path back to profitability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457200" y="1234440"/>
            <a:ext cx="3931920" cy="3291840"/>
          </a:xfrm>
          <a:prstGeom prst="roundRect">
            <a:avLst>
              <a:gd fmla="val 166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457200" y="1307592"/>
            <a:ext cx="41148" cy="3145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 txBox="1"/>
          <p:nvPr/>
        </p:nvSpPr>
        <p:spPr>
          <a:xfrm>
            <a:off x="658368" y="1417320"/>
            <a:ext cx="3566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ANNUAL PROCESSING COST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640080" y="1691640"/>
            <a:ext cx="3566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3400"/>
              <a:buFont typeface="Montserrat"/>
              <a:buNone/>
            </a:pPr>
            <a:r>
              <a:rPr b="1" i="0" lang="en-US" sz="3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€4.16M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658368" y="2331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SPENT PROCESSING TODAY'S VOLUME / YEAR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658368" y="2651760"/>
            <a:ext cx="3529584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1050"/>
              <a:buFont typeface="Inter"/>
              <a:buNone/>
            </a:pPr>
            <a:r>
              <a:rPr b="0" i="0" lang="en-US" sz="100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At €80 in administrative cost per load across 1,000 weekly loads, Transiberia spends €4.16M a year just to process freight — before a single delay or exception is accounted for.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4617720" y="1234440"/>
            <a:ext cx="4069080" cy="1536192"/>
          </a:xfrm>
          <a:prstGeom prst="roundRect">
            <a:avLst>
              <a:gd fmla="val 3571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4617720" y="1307592"/>
            <a:ext cx="41148" cy="138988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 txBox="1"/>
          <p:nvPr/>
        </p:nvSpPr>
        <p:spPr>
          <a:xfrm>
            <a:off x="4818888" y="1399032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EXCEPTION &amp; PENALTY EXPOSURE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 txBox="1"/>
          <p:nvPr/>
        </p:nvSpPr>
        <p:spPr>
          <a:xfrm>
            <a:off x="4800600" y="1645920"/>
            <a:ext cx="3703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600"/>
              <a:buFont typeface="Montserrat"/>
              <a:buNone/>
            </a:pPr>
            <a:r>
              <a:rPr b="1" i="0" lang="en-US" sz="26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Up to €3.0M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4818888" y="2121408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ANNUAL WORST-CASE EXPOSURE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 txBox="1"/>
          <p:nvPr/>
        </p:nvSpPr>
        <p:spPr>
          <a:xfrm>
            <a:off x="4818888" y="2359152"/>
            <a:ext cx="366674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0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3–5% of weekly loads need manual intervention, and fatal incidents are capped at €50,000 each</a:t>
            </a:r>
            <a:r>
              <a:rPr lang="en-US" sz="900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4617720" y="2916936"/>
            <a:ext cx="4069080" cy="1609344"/>
          </a:xfrm>
          <a:prstGeom prst="roundRect">
            <a:avLst>
              <a:gd fmla="val 3409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4617720" y="2990088"/>
            <a:ext cx="41148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 txBox="1"/>
          <p:nvPr/>
        </p:nvSpPr>
        <p:spPr>
          <a:xfrm>
            <a:off x="4818888" y="3081528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lang="en-US" sz="900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SCALING ON TODAY’S SETUP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 txBox="1"/>
          <p:nvPr/>
        </p:nvSpPr>
        <p:spPr>
          <a:xfrm>
            <a:off x="4800600" y="3328416"/>
            <a:ext cx="3703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Montserrat"/>
              <a:buNone/>
            </a:pPr>
            <a:r>
              <a:rPr b="1" lang="en-US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Extra €2.3M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 txBox="1"/>
          <p:nvPr/>
        </p:nvSpPr>
        <p:spPr>
          <a:xfrm>
            <a:off x="4818888" y="3803904"/>
            <a:ext cx="3703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1" lang="en-US" sz="900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NEEDED JUST TO HIT THE GROWTH TARGET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 txBox="1"/>
          <p:nvPr/>
        </p:nvSpPr>
        <p:spPr>
          <a:xfrm>
            <a:off x="4818888" y="4041648"/>
            <a:ext cx="366674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950"/>
              <a:buFont typeface="Inter"/>
              <a:buNone/>
            </a:pPr>
            <a:r>
              <a:rPr lang="en-US" sz="900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At today's throughput (8.3 loads/employee/week), reaching the +25–50% volume target means hiring 30 to 60 more people — up to €2.3M in additional cost the current setup can't absorb.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117" name="Google Shape;11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Proposed Architecture &amp; Workflow Shift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From reactive firefighting to predictive orchestration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1000"/>
              <a:buFont typeface="Inter"/>
              <a:buNone/>
            </a:pPr>
            <a:r>
              <a:rPr b="1" i="0" lang="en-US" sz="10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CURRENT STATE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457200" y="15179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Legacy Day-to-Day Operations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457200" y="18288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1050"/>
              <a:buFont typeface="Inter"/>
              <a:buNone/>
            </a:pPr>
            <a:r>
              <a:rPr b="0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Workflows are dominated by manual Excel entry and phone negotiations. Operations remain purely reactive, firefighting exceptions as they occur.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4" name="Google Shape;124;p7"/>
          <p:cNvCxnSpPr/>
          <p:nvPr/>
        </p:nvCxnSpPr>
        <p:spPr>
          <a:xfrm>
            <a:off x="4572000" y="1280160"/>
            <a:ext cx="0" cy="1417320"/>
          </a:xfrm>
          <a:prstGeom prst="straightConnector1">
            <a:avLst/>
          </a:prstGeom>
          <a:noFill/>
          <a:ln cap="flat" cmpd="sng" w="12700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7"/>
          <p:cNvSpPr txBox="1"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Inter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FUTURE STATE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 txBox="1"/>
          <p:nvPr/>
        </p:nvSpPr>
        <p:spPr>
          <a:xfrm>
            <a:off x="4754880" y="15179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Automated Ingestion &amp; Alerts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 txBox="1"/>
          <p:nvPr/>
        </p:nvSpPr>
        <p:spPr>
          <a:xfrm>
            <a:off x="4754880" y="18288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1050"/>
              <a:buFont typeface="Inter"/>
              <a:buNone/>
            </a:pPr>
            <a:r>
              <a:rPr b="0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 Cloud TMS, integrated to SAP via SAP BTP and WhatsApp Business API, reads scattered emails, PDFs and WhatsApp into a single source of truth. Shift workflow entirely to predictive orchestration with automated delay alerting.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457200" y="3063240"/>
            <a:ext cx="3931920" cy="1417320"/>
          </a:xfrm>
          <a:prstGeom prst="roundRect">
            <a:avLst>
              <a:gd fmla="val 3871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457200" y="3136392"/>
            <a:ext cx="41148" cy="127101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"/>
          <p:cNvSpPr txBox="1"/>
          <p:nvPr/>
        </p:nvSpPr>
        <p:spPr>
          <a:xfrm>
            <a:off x="685800" y="324612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ADB2BA"/>
                </a:solidFill>
                <a:latin typeface="Montserrat"/>
                <a:ea typeface="Montserrat"/>
                <a:cs typeface="Montserrat"/>
                <a:sym typeface="Montserrat"/>
              </a:rPr>
              <a:t>8h</a:t>
            </a:r>
            <a:r>
              <a:rPr b="0" i="0" lang="en-US" sz="2800" u="none" cap="none" strike="noStrike">
                <a:solidFill>
                  <a:srgbClr val="83878E"/>
                </a:solidFill>
                <a:latin typeface="Montserrat"/>
                <a:ea typeface="Montserrat"/>
                <a:cs typeface="Montserrat"/>
                <a:sym typeface="Montserrat"/>
              </a:rPr>
              <a:t>  →  </a:t>
            </a:r>
            <a:r>
              <a:rPr b="1" i="0" lang="en-US" sz="28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2h</a:t>
            </a:r>
            <a:endParaRPr b="0" i="0" sz="2800" u="none" cap="none" strike="noStrike">
              <a:solidFill>
                <a:srgbClr val="00B4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 txBox="1"/>
          <p:nvPr/>
        </p:nvSpPr>
        <p:spPr>
          <a:xfrm>
            <a:off x="704088" y="388620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CARRIER ASSIGNMENT TIME TARGET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4754880" y="3063240"/>
            <a:ext cx="3931920" cy="1417320"/>
          </a:xfrm>
          <a:prstGeom prst="roundRect">
            <a:avLst>
              <a:gd fmla="val 3871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4754880" y="3136392"/>
            <a:ext cx="41148" cy="127101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 txBox="1"/>
          <p:nvPr/>
        </p:nvSpPr>
        <p:spPr>
          <a:xfrm>
            <a:off x="4983480" y="324612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ADB2BA"/>
                </a:solidFill>
                <a:latin typeface="Montserrat"/>
                <a:ea typeface="Montserrat"/>
                <a:cs typeface="Montserrat"/>
                <a:sym typeface="Montserrat"/>
              </a:rPr>
              <a:t>€80</a:t>
            </a:r>
            <a:r>
              <a:rPr b="0" i="0" lang="en-US" sz="2800" u="none" cap="none" strike="noStrike">
                <a:solidFill>
                  <a:srgbClr val="83878E"/>
                </a:solidFill>
                <a:latin typeface="Montserrat"/>
                <a:ea typeface="Montserrat"/>
                <a:cs typeface="Montserrat"/>
                <a:sym typeface="Montserrat"/>
              </a:rPr>
              <a:t>  →  </a:t>
            </a:r>
            <a:r>
              <a:rPr b="1" i="0" lang="en-US" sz="28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€40</a:t>
            </a:r>
            <a:endParaRPr b="0" i="0" sz="2800" u="none" cap="none" strike="noStrike">
              <a:solidFill>
                <a:srgbClr val="00B4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 txBox="1"/>
          <p:nvPr/>
        </p:nvSpPr>
        <p:spPr>
          <a:xfrm>
            <a:off x="5001768" y="388620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OPERATIONAL PROCESSING COST (-50%)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141" name="Google Shape;14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8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 txBox="1"/>
          <p:nvPr/>
        </p:nvSpPr>
        <p:spPr>
          <a:xfrm>
            <a:off x="457200" y="29260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000"/>
              <a:buFont typeface="Montserrat"/>
              <a:buNone/>
            </a:pPr>
            <a:r>
              <a:rPr b="1" i="0" lang="en-US" sz="20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Current State — Operational Process Map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 txBox="1"/>
          <p:nvPr/>
        </p:nvSpPr>
        <p:spPr>
          <a:xfrm>
            <a:off x="457200" y="749808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How Transiberia runs today, from pricing request to delivery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457200" y="1188720"/>
            <a:ext cx="274320" cy="2743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 txBox="1"/>
          <p:nvPr/>
        </p:nvSpPr>
        <p:spPr>
          <a:xfrm>
            <a:off x="4572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 txBox="1"/>
          <p:nvPr/>
        </p:nvSpPr>
        <p:spPr>
          <a:xfrm>
            <a:off x="17419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4572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Pricing Request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4572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F4F6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 txBox="1"/>
          <p:nvPr/>
        </p:nvSpPr>
        <p:spPr>
          <a:xfrm>
            <a:off x="5303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Shipper sends rate requests by email &amp; PDF — unstructured, case by case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18288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 txBox="1"/>
          <p:nvPr/>
        </p:nvSpPr>
        <p:spPr>
          <a:xfrm>
            <a:off x="18288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31135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18288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Booking &amp; Order Entry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18288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F4F6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19019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Price agreed; re-keyed by hand into legacy SAP (2005) and parallel Excel sheets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32004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"/>
          <p:cNvSpPr txBox="1"/>
          <p:nvPr/>
        </p:nvSpPr>
        <p:spPr>
          <a:xfrm>
            <a:off x="32004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 txBox="1"/>
          <p:nvPr/>
        </p:nvSpPr>
        <p:spPr>
          <a:xfrm>
            <a:off x="44851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 txBox="1"/>
          <p:nvPr/>
        </p:nvSpPr>
        <p:spPr>
          <a:xfrm>
            <a:off x="32004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Carrier Assignment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32004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F4F6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/>
          <p:cNvSpPr txBox="1"/>
          <p:nvPr/>
        </p:nvSpPr>
        <p:spPr>
          <a:xfrm>
            <a:off x="32735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Manual matching against availability — ~8 hours order to assignment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45720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 txBox="1"/>
          <p:nvPr/>
        </p:nvSpPr>
        <p:spPr>
          <a:xfrm>
            <a:off x="45720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 txBox="1"/>
          <p:nvPr/>
        </p:nvSpPr>
        <p:spPr>
          <a:xfrm>
            <a:off x="58567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 txBox="1"/>
          <p:nvPr/>
        </p:nvSpPr>
        <p:spPr>
          <a:xfrm>
            <a:off x="45720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Pickup &amp; Transit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45720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F4F6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"/>
          <p:cNvSpPr txBox="1"/>
          <p:nvPr/>
        </p:nvSpPr>
        <p:spPr>
          <a:xfrm>
            <a:off x="46451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Carrier collects cargo and moves it; GPS app for a minority of carriers only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59436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59436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72283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9436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Delivery &amp; POD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59436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F4F6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8"/>
          <p:cNvSpPr txBox="1"/>
          <p:nvPr/>
        </p:nvSpPr>
        <p:spPr>
          <a:xfrm>
            <a:off x="60167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Proof of delivery confirmed by phone or paper — chased manually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73152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 txBox="1"/>
          <p:nvPr/>
        </p:nvSpPr>
        <p:spPr>
          <a:xfrm>
            <a:off x="73152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3152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Invoicing &amp; Reporting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73152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F4F6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 txBox="1"/>
          <p:nvPr/>
        </p:nvSpPr>
        <p:spPr>
          <a:xfrm>
            <a:off x="73883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Manual reconciliation of accounting and performance data across fragmented systems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0" name="Google Shape;180;p8"/>
          <p:cNvCxnSpPr/>
          <p:nvPr/>
        </p:nvCxnSpPr>
        <p:spPr>
          <a:xfrm>
            <a:off x="3200400" y="2871216"/>
            <a:ext cx="0" cy="256032"/>
          </a:xfrm>
          <a:prstGeom prst="straightConnector1">
            <a:avLst/>
          </a:prstGeom>
          <a:noFill/>
          <a:ln cap="flat" cmpd="sng" w="15875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1" name="Google Shape;181;p8"/>
          <p:cNvCxnSpPr/>
          <p:nvPr/>
        </p:nvCxnSpPr>
        <p:spPr>
          <a:xfrm>
            <a:off x="7223760" y="2871216"/>
            <a:ext cx="0" cy="256032"/>
          </a:xfrm>
          <a:prstGeom prst="straightConnector1">
            <a:avLst/>
          </a:prstGeom>
          <a:noFill/>
          <a:ln cap="flat" cmpd="sng" w="15875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2" name="Google Shape;182;p8"/>
          <p:cNvSpPr/>
          <p:nvPr/>
        </p:nvSpPr>
        <p:spPr>
          <a:xfrm>
            <a:off x="3200400" y="3127248"/>
            <a:ext cx="4023360" cy="1207008"/>
          </a:xfrm>
          <a:prstGeom prst="roundRect">
            <a:avLst>
              <a:gd fmla="val 4545" name="adj"/>
            </a:avLst>
          </a:prstGeom>
          <a:solidFill>
            <a:srgbClr val="FDF1E4"/>
          </a:solidFill>
          <a:ln cap="flat" cmpd="sng" w="15875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8"/>
          <p:cNvSpPr txBox="1"/>
          <p:nvPr/>
        </p:nvSpPr>
        <p:spPr>
          <a:xfrm>
            <a:off x="3401568" y="3236976"/>
            <a:ext cx="36210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RUNS IN PARALLEL, THROUGHOUT TRANSIT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3401568" y="3474720"/>
            <a:ext cx="36210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250"/>
              <a:buFont typeface="Montserrat"/>
              <a:buNone/>
            </a:pPr>
            <a:r>
              <a:rPr b="1" i="0" lang="en-US" sz="12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Exception Monitoring — Reactive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3401568" y="3749040"/>
            <a:ext cx="362102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No automated alerts. Delays or missing shipments surface only after a customer complaint or a carrier flags a missed deadline — forcing ad hoc recovery: re-routing, a backup carrier at premium rate, or a refund.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457200" y="4480560"/>
            <a:ext cx="1954530" cy="566928"/>
          </a:xfrm>
          <a:prstGeom prst="roundRect">
            <a:avLst>
              <a:gd fmla="val 967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457200" y="4553712"/>
            <a:ext cx="41148" cy="42062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 txBox="1"/>
          <p:nvPr/>
        </p:nvSpPr>
        <p:spPr>
          <a:xfrm>
            <a:off x="603504" y="4535424"/>
            <a:ext cx="168021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20–30 hrs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03504" y="4809744"/>
            <a:ext cx="168021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6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lost per week to manual troubleshooting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2548890" y="4480560"/>
            <a:ext cx="1954530" cy="566928"/>
          </a:xfrm>
          <a:prstGeom prst="roundRect">
            <a:avLst>
              <a:gd fmla="val 967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2548890" y="4553712"/>
            <a:ext cx="41148" cy="42062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 txBox="1"/>
          <p:nvPr/>
        </p:nvSpPr>
        <p:spPr>
          <a:xfrm>
            <a:off x="2695194" y="4535424"/>
            <a:ext cx="168021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€80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2695194" y="4809744"/>
            <a:ext cx="168021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6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operational cost per load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4640580" y="4480560"/>
            <a:ext cx="1954530" cy="566928"/>
          </a:xfrm>
          <a:prstGeom prst="roundRect">
            <a:avLst>
              <a:gd fmla="val 967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8"/>
          <p:cNvSpPr/>
          <p:nvPr/>
        </p:nvSpPr>
        <p:spPr>
          <a:xfrm>
            <a:off x="4640580" y="4553712"/>
            <a:ext cx="41148" cy="42062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"/>
          <p:cNvSpPr txBox="1"/>
          <p:nvPr/>
        </p:nvSpPr>
        <p:spPr>
          <a:xfrm>
            <a:off x="4786884" y="4535424"/>
            <a:ext cx="168021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3–5%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 txBox="1"/>
          <p:nvPr/>
        </p:nvSpPr>
        <p:spPr>
          <a:xfrm>
            <a:off x="4786875" y="4809750"/>
            <a:ext cx="1689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6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of weekly loads need manual intervention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732270" y="4480560"/>
            <a:ext cx="1954530" cy="566928"/>
          </a:xfrm>
          <a:prstGeom prst="roundRect">
            <a:avLst>
              <a:gd fmla="val 967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8"/>
          <p:cNvSpPr/>
          <p:nvPr/>
        </p:nvSpPr>
        <p:spPr>
          <a:xfrm>
            <a:off x="6732270" y="4553712"/>
            <a:ext cx="41148" cy="42062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"/>
          <p:cNvSpPr txBox="1"/>
          <p:nvPr/>
        </p:nvSpPr>
        <p:spPr>
          <a:xfrm>
            <a:off x="6878574" y="4535424"/>
            <a:ext cx="168021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 txBox="1"/>
          <p:nvPr/>
        </p:nvSpPr>
        <p:spPr>
          <a:xfrm>
            <a:off x="6878574" y="4809744"/>
            <a:ext cx="168021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6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systems with a single source of truth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207" name="Google Shape;20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9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 txBox="1"/>
          <p:nvPr/>
        </p:nvSpPr>
        <p:spPr>
          <a:xfrm>
            <a:off x="457200" y="29260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000"/>
              <a:buFont typeface="Montserrat"/>
              <a:buNone/>
            </a:pPr>
            <a:r>
              <a:rPr b="1" i="0" lang="en-US" sz="20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Future State — Proactive Operating Model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 txBox="1"/>
          <p:nvPr/>
        </p:nvSpPr>
        <p:spPr>
          <a:xfrm>
            <a:off x="457200" y="749808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Same process, same team — orchestrated from one connected view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457200" y="1188720"/>
            <a:ext cx="274320" cy="2743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 txBox="1"/>
          <p:nvPr/>
        </p:nvSpPr>
        <p:spPr>
          <a:xfrm>
            <a:off x="4572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17419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4572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Pricing Request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4572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E3F7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 txBox="1"/>
          <p:nvPr/>
        </p:nvSpPr>
        <p:spPr>
          <a:xfrm>
            <a:off x="5303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A6A80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0A6A80"/>
                </a:solidFill>
                <a:latin typeface="Inter"/>
                <a:ea typeface="Inter"/>
                <a:cs typeface="Inter"/>
                <a:sym typeface="Inter"/>
              </a:rPr>
              <a:t>Same channels — auto-captured by the Generative AI layer, no re-typing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18288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 txBox="1"/>
          <p:nvPr/>
        </p:nvSpPr>
        <p:spPr>
          <a:xfrm>
            <a:off x="18288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 txBox="1"/>
          <p:nvPr/>
        </p:nvSpPr>
        <p:spPr>
          <a:xfrm>
            <a:off x="31135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 txBox="1"/>
          <p:nvPr/>
        </p:nvSpPr>
        <p:spPr>
          <a:xfrm>
            <a:off x="18288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Booking &amp; Order Entry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18288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E3F7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 txBox="1"/>
          <p:nvPr/>
        </p:nvSpPr>
        <p:spPr>
          <a:xfrm>
            <a:off x="19019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A6A80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0A6A80"/>
                </a:solidFill>
                <a:latin typeface="Inter"/>
                <a:ea typeface="Inter"/>
                <a:cs typeface="Inter"/>
                <a:sym typeface="Inter"/>
              </a:rPr>
              <a:t>Entered once, synced automatically to the Cloud TMS and SAP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32004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"/>
          <p:cNvSpPr txBox="1"/>
          <p:nvPr/>
        </p:nvSpPr>
        <p:spPr>
          <a:xfrm>
            <a:off x="32004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 txBox="1"/>
          <p:nvPr/>
        </p:nvSpPr>
        <p:spPr>
          <a:xfrm>
            <a:off x="44851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32004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Carrier Assignment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32004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E3F7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 txBox="1"/>
          <p:nvPr/>
        </p:nvSpPr>
        <p:spPr>
          <a:xfrm>
            <a:off x="32735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A6A80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0A6A80"/>
                </a:solidFill>
                <a:latin typeface="Inter"/>
                <a:ea typeface="Inter"/>
                <a:cs typeface="Inter"/>
                <a:sym typeface="Inter"/>
              </a:rPr>
              <a:t>Target: 2 hours, aided by live carrier availability in one view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45720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 txBox="1"/>
          <p:nvPr/>
        </p:nvSpPr>
        <p:spPr>
          <a:xfrm>
            <a:off x="45720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 txBox="1"/>
          <p:nvPr/>
        </p:nvSpPr>
        <p:spPr>
          <a:xfrm>
            <a:off x="58567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 txBox="1"/>
          <p:nvPr/>
        </p:nvSpPr>
        <p:spPr>
          <a:xfrm>
            <a:off x="45720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Pickup &amp; Transit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5720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E3F7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"/>
          <p:cNvSpPr txBox="1"/>
          <p:nvPr/>
        </p:nvSpPr>
        <p:spPr>
          <a:xfrm>
            <a:off x="46451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A6A80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0A6A80"/>
                </a:solidFill>
                <a:latin typeface="Inter"/>
                <a:ea typeface="Inter"/>
                <a:cs typeface="Inter"/>
                <a:sym typeface="Inter"/>
              </a:rPr>
              <a:t>One view: GPS app + parsed email/WhatsApp signals — no chasing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59436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9"/>
          <p:cNvSpPr txBox="1"/>
          <p:nvPr/>
        </p:nvSpPr>
        <p:spPr>
          <a:xfrm>
            <a:off x="59436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 txBox="1"/>
          <p:nvPr/>
        </p:nvSpPr>
        <p:spPr>
          <a:xfrm>
            <a:off x="7228332" y="1170432"/>
            <a:ext cx="822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 txBox="1"/>
          <p:nvPr/>
        </p:nvSpPr>
        <p:spPr>
          <a:xfrm>
            <a:off x="59436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Delivery &amp; POD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59436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E3F7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9"/>
          <p:cNvSpPr txBox="1"/>
          <p:nvPr/>
        </p:nvSpPr>
        <p:spPr>
          <a:xfrm>
            <a:off x="60167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A6A80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0A6A80"/>
                </a:solidFill>
                <a:latin typeface="Inter"/>
                <a:ea typeface="Inter"/>
                <a:cs typeface="Inter"/>
                <a:sym typeface="Inter"/>
              </a:rPr>
              <a:t>Confirmation captured and synced centrally the moment it happens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7315200" y="1188720"/>
            <a:ext cx="274320" cy="27432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 txBox="1"/>
          <p:nvPr/>
        </p:nvSpPr>
        <p:spPr>
          <a:xfrm>
            <a:off x="7315200" y="11887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 txBox="1"/>
          <p:nvPr/>
        </p:nvSpPr>
        <p:spPr>
          <a:xfrm>
            <a:off x="7315200" y="1517904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Invoicing &amp; Reporting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7315200" y="1975104"/>
            <a:ext cx="1280160" cy="896112"/>
          </a:xfrm>
          <a:prstGeom prst="roundRect">
            <a:avLst>
              <a:gd fmla="val 5102" name="adj"/>
            </a:avLst>
          </a:prstGeom>
          <a:solidFill>
            <a:srgbClr val="E3F7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"/>
          <p:cNvSpPr txBox="1"/>
          <p:nvPr/>
        </p:nvSpPr>
        <p:spPr>
          <a:xfrm>
            <a:off x="7388352" y="2029968"/>
            <a:ext cx="113385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A6A80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0A6A80"/>
                </a:solidFill>
                <a:latin typeface="Inter"/>
                <a:ea typeface="Inter"/>
                <a:cs typeface="Inter"/>
                <a:sym typeface="Inter"/>
              </a:rPr>
              <a:t>Pulled straight from the single source of truth — faster reconciliation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6" name="Google Shape;246;p9"/>
          <p:cNvCxnSpPr/>
          <p:nvPr/>
        </p:nvCxnSpPr>
        <p:spPr>
          <a:xfrm>
            <a:off x="3200400" y="2871216"/>
            <a:ext cx="0" cy="256032"/>
          </a:xfrm>
          <a:prstGeom prst="straightConnector1">
            <a:avLst/>
          </a:prstGeom>
          <a:noFill/>
          <a:ln cap="flat" cmpd="sng" w="15875">
            <a:solidFill>
              <a:srgbClr val="00B4D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7" name="Google Shape;247;p9"/>
          <p:cNvCxnSpPr/>
          <p:nvPr/>
        </p:nvCxnSpPr>
        <p:spPr>
          <a:xfrm>
            <a:off x="7223760" y="2871216"/>
            <a:ext cx="0" cy="256032"/>
          </a:xfrm>
          <a:prstGeom prst="straightConnector1">
            <a:avLst/>
          </a:prstGeom>
          <a:noFill/>
          <a:ln cap="flat" cmpd="sng" w="15875">
            <a:solidFill>
              <a:srgbClr val="00B4D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8" name="Google Shape;248;p9"/>
          <p:cNvSpPr/>
          <p:nvPr/>
        </p:nvSpPr>
        <p:spPr>
          <a:xfrm>
            <a:off x="3200400" y="3127248"/>
            <a:ext cx="4023360" cy="1207008"/>
          </a:xfrm>
          <a:prstGeom prst="roundRect">
            <a:avLst>
              <a:gd fmla="val 4545" name="adj"/>
            </a:avLst>
          </a:prstGeom>
          <a:solidFill>
            <a:srgbClr val="E3F7FB"/>
          </a:solidFill>
          <a:ln cap="flat" cmpd="sng" w="15875">
            <a:solidFill>
              <a:srgbClr val="00B4D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9"/>
          <p:cNvSpPr txBox="1"/>
          <p:nvPr/>
        </p:nvSpPr>
        <p:spPr>
          <a:xfrm>
            <a:off x="3401568" y="3236976"/>
            <a:ext cx="36210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RUNS IN PARALLEL, THROUGHOUT TRANSIT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3401568" y="3474720"/>
            <a:ext cx="36210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250"/>
              <a:buFont typeface="Montserrat"/>
              <a:buNone/>
            </a:pPr>
            <a:r>
              <a:rPr b="1" i="0" lang="en-US" sz="12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Exception Monitoring — Proactive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3401568" y="3749040"/>
            <a:ext cx="362102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Automated rules compare live status against expected milestones in real time and flag risk to ops — with enough lead time to reroute or notify the customer before a deadline is missed, not after.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457200" y="4480560"/>
            <a:ext cx="8229600" cy="566928"/>
          </a:xfrm>
          <a:prstGeom prst="roundRect">
            <a:avLst>
              <a:gd fmla="val 12903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658368" y="4700016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9"/>
          <p:cNvSpPr txBox="1"/>
          <p:nvPr/>
        </p:nvSpPr>
        <p:spPr>
          <a:xfrm>
            <a:off x="877824" y="4553712"/>
            <a:ext cx="7589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Target: 100% visibility over transit delays before warehouse arrival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877824" y="4809744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850"/>
              <a:buFont typeface="Inter"/>
              <a:buNone/>
            </a:pPr>
            <a:r>
              <a:rPr b="0" i="0" lang="en-US" sz="8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Key Success Metric #3 — automated alerts replace manual email/WhatsApp monitoring, and flags feed back into Carrier Assignment and Delivery for early intervention.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92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261" name="Google Shape;26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0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F3F6F8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Connected Ecosystem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Compose, don't replace — a light integration layer, not a SAP re-platform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457200" y="1298448"/>
            <a:ext cx="5029200" cy="914400"/>
          </a:xfrm>
          <a:prstGeom prst="roundRect">
            <a:avLst>
              <a:gd fmla="val 8000" name="adj"/>
            </a:avLst>
          </a:prstGeom>
          <a:solidFill>
            <a:srgbClr val="0E3A4A"/>
          </a:solidFill>
          <a:ln cap="flat" cmpd="sng" w="15875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"/>
          <p:cNvSpPr txBox="1"/>
          <p:nvPr/>
        </p:nvSpPr>
        <p:spPr>
          <a:xfrm>
            <a:off x="685800" y="1408176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SAP + Cloud TMS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/>
          <p:nvPr/>
        </p:nvSpPr>
        <p:spPr>
          <a:xfrm>
            <a:off x="3978150" y="1377150"/>
            <a:ext cx="1424400" cy="237600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0"/>
          <p:cNvSpPr txBox="1"/>
          <p:nvPr/>
        </p:nvSpPr>
        <p:spPr>
          <a:xfrm>
            <a:off x="4061050" y="1377150"/>
            <a:ext cx="12684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⚠ CONFIRM SAP RELEASE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 txBox="1"/>
          <p:nvPr/>
        </p:nvSpPr>
        <p:spPr>
          <a:xfrm>
            <a:off x="685800" y="1700784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8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Master data — rates, orders, invoices — stays in Transiberia's existing SAP.</a:t>
            </a:r>
            <a:r>
              <a:rPr lang="en-US" sz="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8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Adds a Europe-specific Cloud TMS (e.g. Alpega / Transporeon-class) for carrier assignment, tracking &amp; exception rules.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0" name="Google Shape;270;p10"/>
          <p:cNvCxnSpPr/>
          <p:nvPr/>
        </p:nvCxnSpPr>
        <p:spPr>
          <a:xfrm>
            <a:off x="777240" y="2212848"/>
            <a:ext cx="9900" cy="248700"/>
          </a:xfrm>
          <a:prstGeom prst="straightConnector1">
            <a:avLst/>
          </a:prstGeom>
          <a:noFill/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271" name="Google Shape;271;p10"/>
          <p:cNvSpPr txBox="1"/>
          <p:nvPr/>
        </p:nvSpPr>
        <p:spPr>
          <a:xfrm>
            <a:off x="941825" y="2242100"/>
            <a:ext cx="43890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830"/>
              <a:buFont typeface="Inter"/>
              <a:buNone/>
            </a:pPr>
            <a:r>
              <a:rPr b="0" i="1" lang="en-US" sz="83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Secure OData / REST APIs — no SAP re-platform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457200" y="2491543"/>
            <a:ext cx="5029200" cy="713100"/>
          </a:xfrm>
          <a:prstGeom prst="roundRect">
            <a:avLst>
              <a:gd fmla="val 10256" name="adj"/>
            </a:avLst>
          </a:prstGeom>
          <a:solidFill>
            <a:srgbClr val="0E3A4A"/>
          </a:solidFill>
          <a:ln cap="flat" cmpd="sng" w="15875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0"/>
          <p:cNvSpPr txBox="1"/>
          <p:nvPr/>
        </p:nvSpPr>
        <p:spPr>
          <a:xfrm>
            <a:off x="685800" y="2577633"/>
            <a:ext cx="4572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SAP BTP Integration Suite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 txBox="1"/>
          <p:nvPr/>
        </p:nvSpPr>
        <p:spPr>
          <a:xfrm>
            <a:off x="685800" y="2870251"/>
            <a:ext cx="4572000" cy="23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8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Translates ERP/TMS events into messages via a CPaaS partner (Twilio) — proven, documented SAP pattern.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941825" y="3245025"/>
            <a:ext cx="4389000" cy="23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830"/>
              <a:buFont typeface="Inter"/>
              <a:buNone/>
            </a:pPr>
            <a:r>
              <a:rPr b="0" i="1" lang="en-US" sz="83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WhatsApp Business Cloud API (official)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457200" y="3536926"/>
            <a:ext cx="5029200" cy="713100"/>
          </a:xfrm>
          <a:prstGeom prst="roundRect">
            <a:avLst>
              <a:gd fmla="val 11765" name="adj"/>
            </a:avLst>
          </a:prstGeom>
          <a:solidFill>
            <a:srgbClr val="0E3A4A"/>
          </a:solidFill>
          <a:ln cap="flat" cmpd="sng" w="15875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0"/>
          <p:cNvSpPr txBox="1"/>
          <p:nvPr/>
        </p:nvSpPr>
        <p:spPr>
          <a:xfrm>
            <a:off x="685800" y="3646648"/>
            <a:ext cx="4572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WhatsApp Business API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685800" y="3939245"/>
            <a:ext cx="4572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85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Booking confirmations, exception alerts &amp; POD requests — interacts with carriers &amp; drivers dynamically.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457200" y="4553698"/>
            <a:ext cx="8229600" cy="411600"/>
          </a:xfrm>
          <a:prstGeom prst="roundRect">
            <a:avLst>
              <a:gd fmla="val 20000" name="adj"/>
            </a:avLst>
          </a:prstGeom>
          <a:solidFill>
            <a:srgbClr val="2E2410"/>
          </a:solidFill>
          <a:ln cap="flat" cmpd="sng" w="12700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"/>
          <p:cNvSpPr txBox="1"/>
          <p:nvPr/>
        </p:nvSpPr>
        <p:spPr>
          <a:xfrm>
            <a:off x="621800" y="4614525"/>
            <a:ext cx="7900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⚠ Technical precondition: </a:t>
            </a:r>
            <a:r>
              <a:rPr b="0" i="0" lang="en-US" sz="760" u="none" cap="none" strike="noStrike">
                <a:solidFill>
                  <a:srgbClr val="E8D9BE"/>
                </a:solidFill>
                <a:latin typeface="Inter"/>
                <a:ea typeface="Inter"/>
                <a:cs typeface="Inter"/>
                <a:sym typeface="Inter"/>
              </a:rPr>
              <a:t>this integration needs SAP NetWeaver Gateway (OData). Confirm the current SAP release in Phase 1 — if it predates Gateway, a €100,000–€250,000 technical upgrade is required (client-side cost, separate from this fee).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 txBox="1"/>
          <p:nvPr/>
        </p:nvSpPr>
        <p:spPr>
          <a:xfrm>
            <a:off x="5760720" y="1298448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STILL FEEDS IN, VIA BTP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5760720" y="1572768"/>
            <a:ext cx="2926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• Email &amp; PDF rate requests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• Excel &amp; Google Drive files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DCE3E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• Carrier mobile app (GPS pings)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5760720" y="2514600"/>
            <a:ext cx="2926080" cy="1417320"/>
          </a:xfrm>
          <a:prstGeom prst="roundRect">
            <a:avLst>
              <a:gd fmla="val 5161" name="adj"/>
            </a:avLst>
          </a:prstGeom>
          <a:solidFill>
            <a:srgbClr val="132237"/>
          </a:solidFill>
          <a:ln cap="flat" cmpd="sng" w="15875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0"/>
          <p:cNvSpPr/>
          <p:nvPr/>
        </p:nvSpPr>
        <p:spPr>
          <a:xfrm>
            <a:off x="5907024" y="2642616"/>
            <a:ext cx="1371600" cy="219456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0"/>
          <p:cNvSpPr txBox="1"/>
          <p:nvPr/>
        </p:nvSpPr>
        <p:spPr>
          <a:xfrm>
            <a:off x="5907024" y="26426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700"/>
              <a:buFont typeface="Inter"/>
              <a:buNone/>
            </a:pPr>
            <a:r>
              <a:rPr b="1" i="0" lang="en-US" sz="700" u="none" cap="none" strike="noStrike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OPTIONAL ADD-ON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5925312" y="2935224"/>
            <a:ext cx="25968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Generative AI Layer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 txBox="1"/>
          <p:nvPr/>
        </p:nvSpPr>
        <p:spPr>
          <a:xfrm>
            <a:off x="5925312" y="3227832"/>
            <a:ext cx="259689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Document &amp; WhatsApp understanding, full request-to-assignment automation — priced separately, removable without affecting the core.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8" name="Google Shape;288;p10"/>
          <p:cNvCxnSpPr/>
          <p:nvPr/>
        </p:nvCxnSpPr>
        <p:spPr>
          <a:xfrm>
            <a:off x="457200" y="443484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9" name="Google Shape;289;p10"/>
          <p:cNvCxnSpPr/>
          <p:nvPr/>
        </p:nvCxnSpPr>
        <p:spPr>
          <a:xfrm>
            <a:off x="777240" y="3213132"/>
            <a:ext cx="9900" cy="248700"/>
          </a:xfrm>
          <a:prstGeom prst="straightConnector1">
            <a:avLst/>
          </a:prstGeom>
          <a:noFill/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295" name="Google Shape;29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1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Strategic Scope — Out of Scope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Deliberate boundaries keep the €500K core lean — Generative AI is priced separately, not excluded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 txBox="1"/>
          <p:nvPr/>
        </p:nvSpPr>
        <p:spPr>
          <a:xfrm>
            <a:off x="457200" y="120700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100"/>
              <a:buFont typeface="Inter"/>
              <a:buNone/>
            </a:pPr>
            <a:r>
              <a:rPr b="0" i="0" lang="en-US" sz="110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To ensure targeted impact, this proposal explicitly excludes certain technologies.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1"/>
          <p:cNvSpPr/>
          <p:nvPr/>
        </p:nvSpPr>
        <p:spPr>
          <a:xfrm>
            <a:off x="457200" y="1691640"/>
            <a:ext cx="1920240" cy="2331720"/>
          </a:xfrm>
          <a:prstGeom prst="roundRect">
            <a:avLst>
              <a:gd fmla="val 285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457200" y="1764792"/>
            <a:ext cx="41148" cy="218541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1"/>
          <p:cNvSpPr/>
          <p:nvPr/>
        </p:nvSpPr>
        <p:spPr>
          <a:xfrm>
            <a:off x="640080" y="1874520"/>
            <a:ext cx="914400" cy="256032"/>
          </a:xfrm>
          <a:prstGeom prst="roundRect">
            <a:avLst>
              <a:gd fmla="val 50000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1"/>
          <p:cNvSpPr txBox="1"/>
          <p:nvPr/>
        </p:nvSpPr>
        <p:spPr>
          <a:xfrm>
            <a:off x="640080" y="187452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Inter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EXCLUDED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1"/>
          <p:cNvSpPr txBox="1"/>
          <p:nvPr/>
        </p:nvSpPr>
        <p:spPr>
          <a:xfrm>
            <a:off x="640080" y="2240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No Fleet Telematics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640080" y="2788920"/>
            <a:ext cx="1554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Because Transiberia functions strictly as a freight coordinator without an active fleet, we are omitting fleet telematics.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2560320" y="1691640"/>
            <a:ext cx="1920240" cy="2331720"/>
          </a:xfrm>
          <a:prstGeom prst="roundRect">
            <a:avLst>
              <a:gd fmla="val 285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1"/>
          <p:cNvSpPr/>
          <p:nvPr/>
        </p:nvSpPr>
        <p:spPr>
          <a:xfrm>
            <a:off x="2560320" y="1764792"/>
            <a:ext cx="41148" cy="218541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2743200" y="1874520"/>
            <a:ext cx="914400" cy="256032"/>
          </a:xfrm>
          <a:prstGeom prst="roundRect">
            <a:avLst>
              <a:gd fmla="val 50000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1"/>
          <p:cNvSpPr txBox="1"/>
          <p:nvPr/>
        </p:nvSpPr>
        <p:spPr>
          <a:xfrm>
            <a:off x="2743200" y="187452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Inter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EXCLUDED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 txBox="1"/>
          <p:nvPr/>
        </p:nvSpPr>
        <p:spPr>
          <a:xfrm>
            <a:off x="2743200" y="2240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No SAP Re-Platform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 txBox="1"/>
          <p:nvPr/>
        </p:nvSpPr>
        <p:spPr>
          <a:xfrm>
            <a:off x="2743200" y="2788920"/>
            <a:ext cx="1554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SAP stays as the system of record for master data. We compose a Cloud TMS + integration layer around it — not a full S/4HANA migration.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4663440" y="1691640"/>
            <a:ext cx="1920240" cy="2331720"/>
          </a:xfrm>
          <a:prstGeom prst="roundRect">
            <a:avLst>
              <a:gd fmla="val 285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1"/>
          <p:cNvSpPr/>
          <p:nvPr/>
        </p:nvSpPr>
        <p:spPr>
          <a:xfrm>
            <a:off x="4663440" y="1764792"/>
            <a:ext cx="41148" cy="218541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4846320" y="1874520"/>
            <a:ext cx="914400" cy="256032"/>
          </a:xfrm>
          <a:prstGeom prst="roundRect">
            <a:avLst>
              <a:gd fmla="val 50000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1"/>
          <p:cNvSpPr txBox="1"/>
          <p:nvPr/>
        </p:nvSpPr>
        <p:spPr>
          <a:xfrm>
            <a:off x="4846320" y="187452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Inter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EXCLUDED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 txBox="1"/>
          <p:nvPr/>
        </p:nvSpPr>
        <p:spPr>
          <a:xfrm>
            <a:off x="4846320" y="2240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No Pricing Engine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 txBox="1"/>
          <p:nvPr/>
        </p:nvSpPr>
        <p:spPr>
          <a:xfrm>
            <a:off x="4846320" y="2788920"/>
            <a:ext cx="1554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We are intentionally postponing predictive pricing automation to focus entirely on proactive exception management.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6766560" y="1691640"/>
            <a:ext cx="1920240" cy="2331720"/>
          </a:xfrm>
          <a:prstGeom prst="roundRect">
            <a:avLst>
              <a:gd fmla="val 285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6766560" y="1764792"/>
            <a:ext cx="41148" cy="218541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6949440" y="1874520"/>
            <a:ext cx="914400" cy="256032"/>
          </a:xfrm>
          <a:prstGeom prst="roundRect">
            <a:avLst>
              <a:gd fmla="val 50000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1"/>
          <p:cNvSpPr txBox="1"/>
          <p:nvPr/>
        </p:nvSpPr>
        <p:spPr>
          <a:xfrm>
            <a:off x="6949440" y="187452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Inter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EXCLUDED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 txBox="1"/>
          <p:nvPr/>
        </p:nvSpPr>
        <p:spPr>
          <a:xfrm>
            <a:off x="6949440" y="2240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No Custom App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1"/>
          <p:cNvSpPr txBox="1"/>
          <p:nvPr/>
        </p:nvSpPr>
        <p:spPr>
          <a:xfrm>
            <a:off x="6949440" y="2788920"/>
            <a:ext cx="1554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Finally, we will integrate your existing carrier mobile app tracking environment rather than developing a custom mobile application from scratch.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457200" y="4160520"/>
            <a:ext cx="8229600" cy="594360"/>
          </a:xfrm>
          <a:prstGeom prst="roundRect">
            <a:avLst>
              <a:gd fmla="val 9231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457200" y="4233672"/>
            <a:ext cx="41148" cy="4480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1"/>
          <p:cNvSpPr txBox="1"/>
          <p:nvPr/>
        </p:nvSpPr>
        <p:spPr>
          <a:xfrm>
            <a:off x="685800" y="416052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Also outside this fee: </a:t>
            </a:r>
            <a:r>
              <a:rPr b="0" i="0" lang="en-US" sz="95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Cloud TMS, SAP BTP Integration Suite and WhatsApp Business API subscriptions, licensed and billed directly by each vendor. The Generative AI layer is priced as a separate, optional add-on — see Investment &amp; Cost Estimate.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332" name="Google Shape;33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2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Roadmap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~11 months core, six phases — Generative AI is an optional seventh phase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2"/>
          <p:cNvCxnSpPr/>
          <p:nvPr/>
        </p:nvCxnSpPr>
        <p:spPr>
          <a:xfrm>
            <a:off x="1045029" y="1691640"/>
            <a:ext cx="7053943" cy="0"/>
          </a:xfrm>
          <a:prstGeom prst="straightConnector1">
            <a:avLst/>
          </a:prstGeom>
          <a:noFill/>
          <a:ln cap="flat" cmpd="sng" w="19050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12"/>
          <p:cNvSpPr/>
          <p:nvPr/>
        </p:nvSpPr>
        <p:spPr>
          <a:xfrm>
            <a:off x="889581" y="1536192"/>
            <a:ext cx="310896" cy="310896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2"/>
          <p:cNvSpPr txBox="1"/>
          <p:nvPr/>
        </p:nvSpPr>
        <p:spPr>
          <a:xfrm>
            <a:off x="889581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512064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WKS 1–8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 txBox="1"/>
          <p:nvPr/>
        </p:nvSpPr>
        <p:spPr>
          <a:xfrm>
            <a:off x="512064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Ecosystem &amp; Process Assessment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 txBox="1"/>
          <p:nvPr/>
        </p:nvSpPr>
        <p:spPr>
          <a:xfrm>
            <a:off x="512075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Fit-gap analysis across SAP, WhatsApp, Excel; confirm the SAP release supports NetWeaver Gateway; document procedures; validate Core price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2065238" y="1536192"/>
            <a:ext cx="310896" cy="31089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2"/>
          <p:cNvSpPr txBox="1"/>
          <p:nvPr/>
        </p:nvSpPr>
        <p:spPr>
          <a:xfrm>
            <a:off x="2065238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 txBox="1"/>
          <p:nvPr/>
        </p:nvSpPr>
        <p:spPr>
          <a:xfrm>
            <a:off x="1687721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WKS 9–14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2"/>
          <p:cNvSpPr txBox="1"/>
          <p:nvPr/>
        </p:nvSpPr>
        <p:spPr>
          <a:xfrm>
            <a:off x="1687721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Cloud TMS Selection &amp; Design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2"/>
          <p:cNvSpPr txBox="1"/>
          <p:nvPr/>
        </p:nvSpPr>
        <p:spPr>
          <a:xfrm>
            <a:off x="1687725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Select a Europe-specific Cloud TMS; design the SAP ↔ BTP ↔ WhatsApp architecture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3240895" y="1536192"/>
            <a:ext cx="310896" cy="31089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2"/>
          <p:cNvSpPr txBox="1"/>
          <p:nvPr/>
        </p:nvSpPr>
        <p:spPr>
          <a:xfrm>
            <a:off x="3240895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 txBox="1"/>
          <p:nvPr/>
        </p:nvSpPr>
        <p:spPr>
          <a:xfrm>
            <a:off x="2863378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WKS 15–26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 txBox="1"/>
          <p:nvPr/>
        </p:nvSpPr>
        <p:spPr>
          <a:xfrm>
            <a:off x="2863378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Core Build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2863375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Cloud TMS config, SAP BTP integration, WhatsApp Business API (Twilio), connectors (email, Drive, GPS app)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4416552" y="1536192"/>
            <a:ext cx="310896" cy="31089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2"/>
          <p:cNvSpPr txBox="1"/>
          <p:nvPr/>
        </p:nvSpPr>
        <p:spPr>
          <a:xfrm>
            <a:off x="4416552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 txBox="1"/>
          <p:nvPr/>
        </p:nvSpPr>
        <p:spPr>
          <a:xfrm>
            <a:off x="4039035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WKS 27–34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 txBox="1"/>
          <p:nvPr/>
        </p:nvSpPr>
        <p:spPr>
          <a:xfrm>
            <a:off x="4039035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Data Migration &amp; Cleansing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2"/>
          <p:cNvSpPr txBox="1"/>
          <p:nvPr/>
        </p:nvSpPr>
        <p:spPr>
          <a:xfrm>
            <a:off x="4039025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Migrate and clean historical CRM &amp; operational data into the Cloud TMS; validate integrity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/>
          <p:nvPr/>
        </p:nvSpPr>
        <p:spPr>
          <a:xfrm>
            <a:off x="5592209" y="1536192"/>
            <a:ext cx="310896" cy="31089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2"/>
          <p:cNvSpPr txBox="1"/>
          <p:nvPr/>
        </p:nvSpPr>
        <p:spPr>
          <a:xfrm>
            <a:off x="5592209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 txBox="1"/>
          <p:nvPr/>
        </p:nvSpPr>
        <p:spPr>
          <a:xfrm>
            <a:off x="5214693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WKS 35–42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 txBox="1"/>
          <p:nvPr/>
        </p:nvSpPr>
        <p:spPr>
          <a:xfrm>
            <a:off x="5214693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Testing &amp; Pilot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 txBox="1"/>
          <p:nvPr/>
        </p:nvSpPr>
        <p:spPr>
          <a:xfrm>
            <a:off x="5214700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End-to-end testing; piloted on top-volume routes and carriers first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6767866" y="1536192"/>
            <a:ext cx="310896" cy="31089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2"/>
          <p:cNvSpPr txBox="1"/>
          <p:nvPr/>
        </p:nvSpPr>
        <p:spPr>
          <a:xfrm>
            <a:off x="6767866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2"/>
          <p:cNvSpPr txBox="1"/>
          <p:nvPr/>
        </p:nvSpPr>
        <p:spPr>
          <a:xfrm>
            <a:off x="6390350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WKS 43–48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2"/>
          <p:cNvSpPr txBox="1"/>
          <p:nvPr/>
        </p:nvSpPr>
        <p:spPr>
          <a:xfrm>
            <a:off x="6390350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Full Rollout &amp; Training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2"/>
          <p:cNvSpPr txBox="1"/>
          <p:nvPr/>
        </p:nvSpPr>
        <p:spPr>
          <a:xfrm>
            <a:off x="6390350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Extend to 100% of weekly loads; train the ops team — Core complete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2"/>
          <p:cNvSpPr/>
          <p:nvPr/>
        </p:nvSpPr>
        <p:spPr>
          <a:xfrm>
            <a:off x="7943523" y="1536192"/>
            <a:ext cx="310896" cy="310896"/>
          </a:xfrm>
          <a:prstGeom prst="ellipse">
            <a:avLst/>
          </a:prstGeom>
          <a:solidFill>
            <a:srgbClr val="FDF1E4"/>
          </a:solidFill>
          <a:ln cap="flat" cmpd="sng" w="19050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"/>
          <p:cNvSpPr txBox="1"/>
          <p:nvPr/>
        </p:nvSpPr>
        <p:spPr>
          <a:xfrm>
            <a:off x="7943523" y="1536192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B45309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 txBox="1"/>
          <p:nvPr/>
        </p:nvSpPr>
        <p:spPr>
          <a:xfrm>
            <a:off x="7566007" y="1947672"/>
            <a:ext cx="1065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WKS 49–58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 txBox="1"/>
          <p:nvPr/>
        </p:nvSpPr>
        <p:spPr>
          <a:xfrm>
            <a:off x="7566007" y="2148840"/>
            <a:ext cx="106592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Montserrat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Generative AI Layer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 txBox="1"/>
          <p:nvPr/>
        </p:nvSpPr>
        <p:spPr>
          <a:xfrm>
            <a:off x="7566000" y="2752352"/>
            <a:ext cx="10659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10"/>
              <a:buFont typeface="Inter"/>
              <a:buNone/>
            </a:pPr>
            <a:r>
              <a:rPr b="0" i="0" lang="en-US" sz="81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Optional — document/WhatsApp understanding &amp; full automation, if approved</a:t>
            </a:r>
            <a:endParaRPr b="0" i="0" sz="8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377" name="Google Shape;37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3"/>
          <p:cNvSpPr txBox="1"/>
          <p:nvPr/>
        </p:nvSpPr>
        <p:spPr>
          <a:xfrm>
            <a:off x="7973568" y="301752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3"/>
          <p:cNvSpPr txBox="1"/>
          <p:nvPr/>
        </p:nvSpPr>
        <p:spPr>
          <a:xfrm>
            <a:off x="457200" y="292608"/>
            <a:ext cx="704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Savings &amp; Growth Outlook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457200" y="786384"/>
            <a:ext cx="7589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Cost control first — the real, all-in opportunity behind the investment ahead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457200" y="1234440"/>
            <a:ext cx="2590800" cy="2788800"/>
          </a:xfrm>
          <a:prstGeom prst="roundRect">
            <a:avLst>
              <a:gd fmla="val 2118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3"/>
          <p:cNvSpPr/>
          <p:nvPr/>
        </p:nvSpPr>
        <p:spPr>
          <a:xfrm>
            <a:off x="457200" y="1307592"/>
            <a:ext cx="41100" cy="26427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3"/>
          <p:cNvSpPr txBox="1"/>
          <p:nvPr/>
        </p:nvSpPr>
        <p:spPr>
          <a:xfrm>
            <a:off x="658368" y="1417320"/>
            <a:ext cx="22251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lang="en-US" sz="900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IMMEDIATE SAVINGS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640080" y="1709928"/>
            <a:ext cx="2225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~</a:t>
            </a:r>
            <a:r>
              <a:rPr b="1" lang="en-US" sz="2200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€2.08M/yr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 txBox="1"/>
          <p:nvPr/>
        </p:nvSpPr>
        <p:spPr>
          <a:xfrm>
            <a:off x="658368" y="2313432"/>
            <a:ext cx="2225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70"/>
              <a:buFont typeface="Inter"/>
              <a:buNone/>
            </a:pPr>
            <a:r>
              <a:rPr b="1" lang="en-US" sz="870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ANNUAL SAVINGS AT TODAY'S VOLUME 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58368" y="2715768"/>
            <a:ext cx="2188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lang="en-US" sz="950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Cutting processing cost from €80 to €40 per load saves €2.08M a year at today's volume — before any Core investment is netted out (see Real Net Opportunity, right).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3276600" y="1234440"/>
            <a:ext cx="2590800" cy="2788800"/>
          </a:xfrm>
          <a:prstGeom prst="roundRect">
            <a:avLst>
              <a:gd fmla="val 2118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3276600" y="1307592"/>
            <a:ext cx="41100" cy="26427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3"/>
          <p:cNvSpPr txBox="1"/>
          <p:nvPr/>
        </p:nvSpPr>
        <p:spPr>
          <a:xfrm>
            <a:off x="3477768" y="1417320"/>
            <a:ext cx="22251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REAL NET OPPORTUNITY — YEAR 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3459480" y="1709928"/>
            <a:ext cx="2225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€1.38–1.56M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 txBox="1"/>
          <p:nvPr/>
        </p:nvSpPr>
        <p:spPr>
          <a:xfrm>
            <a:off x="3477768" y="2313432"/>
            <a:ext cx="2225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870"/>
              <a:buFont typeface="Inter"/>
              <a:buNone/>
            </a:pPr>
            <a:r>
              <a:rPr b="1" i="0" lang="en-US" sz="87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NET OF CORE, SUBSCRIPTIONS &amp; SAP CONTINGENCY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 txBox="1"/>
          <p:nvPr/>
        </p:nvSpPr>
        <p:spPr>
          <a:xfrm>
            <a:off x="3477768" y="2715768"/>
            <a:ext cx="2188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figure reflects net savings after Core investment, Year 1 subscriptions, and potential SAP upgrades. Payback is 3–4 months; see the Systems Cost &amp; Net ROI model for details.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6096000" y="1234440"/>
            <a:ext cx="2590800" cy="2788800"/>
          </a:xfrm>
          <a:prstGeom prst="roundRect">
            <a:avLst>
              <a:gd fmla="val 2118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3"/>
          <p:cNvSpPr/>
          <p:nvPr/>
        </p:nvSpPr>
        <p:spPr>
          <a:xfrm>
            <a:off x="6096000" y="1307592"/>
            <a:ext cx="41100" cy="26427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3"/>
          <p:cNvSpPr txBox="1"/>
          <p:nvPr/>
        </p:nvSpPr>
        <p:spPr>
          <a:xfrm>
            <a:off x="6297168" y="1417320"/>
            <a:ext cx="22251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Inter"/>
              <a:buNone/>
            </a:pPr>
            <a:r>
              <a:rPr b="1" i="0" lang="en-US" sz="9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SEQUENCING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 txBox="1"/>
          <p:nvPr/>
        </p:nvSpPr>
        <p:spPr>
          <a:xfrm>
            <a:off x="6278880" y="1709928"/>
            <a:ext cx="2225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Fix → Scale → AI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 txBox="1"/>
          <p:nvPr/>
        </p:nvSpPr>
        <p:spPr>
          <a:xfrm>
            <a:off x="6297168" y="2313432"/>
            <a:ext cx="2225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70"/>
              <a:buFont typeface="Inter"/>
              <a:buNone/>
            </a:pPr>
            <a:r>
              <a:rPr b="1" i="0" lang="en-US" sz="87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COST CONTROL BEFORE VOLUME OR AI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 txBox="1"/>
          <p:nvPr/>
        </p:nvSpPr>
        <p:spPr>
          <a:xfrm>
            <a:off x="6297168" y="2715768"/>
            <a:ext cx="2188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lang="en-US" sz="950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At a 5–6% margin, €1 of cost saved is worth €17–20 of new revenue in profit terms. That's why the €16–21M growth target only pays off once cost control — not volume — closes the gap.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457200" y="4206240"/>
            <a:ext cx="8229600" cy="640200"/>
          </a:xfrm>
          <a:prstGeom prst="roundRect">
            <a:avLst>
              <a:gd fmla="val 8571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457200" y="4279392"/>
            <a:ext cx="41100" cy="493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3"/>
          <p:cNvSpPr txBox="1"/>
          <p:nvPr/>
        </p:nvSpPr>
        <p:spPr>
          <a:xfrm>
            <a:off x="731520" y="420624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The growth target (+25–40% volume, €16–21M revenue) is real — but only once cost control is fixed. </a:t>
            </a:r>
            <a:r>
              <a:rPr b="0" i="0" lang="en-US" sz="10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At current margins, scaling volume on top of today's cost structure scales the losses too. Core comes first.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407" name="Google Shape;40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Investment &amp; Cost Estimate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4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Core fits your €500K budget — Generative AI is a separate, removable add-on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11" name="Google Shape;411;p14"/>
          <p:cNvGraphicFramePr/>
          <p:nvPr/>
        </p:nvGraphicFramePr>
        <p:xfrm>
          <a:off x="457200" y="12344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{ECE4FFC3-B922-43FF-9351-6FB831DCD6CF}</a:tableStyleId>
              </a:tblPr>
              <a:tblGrid>
                <a:gridCol w="3931925"/>
                <a:gridCol w="118872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3878E"/>
                        </a:buClr>
                        <a:buSzPts val="900"/>
                        <a:buFont typeface="Inter"/>
                        <a:buNone/>
                      </a:pPr>
                      <a:r>
                        <a:rPr b="1" lang="en-US" sz="900" u="none" cap="none" strike="noStrike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PHASE 1 — Ecosystem &amp; Process Assessment</a:t>
                      </a:r>
                      <a:endParaRPr sz="900" u="none" cap="none" strike="noStrike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22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3878E"/>
                        </a:buClr>
                        <a:buSzPts val="900"/>
                        <a:buFont typeface="Inter"/>
                        <a:buNone/>
                      </a:pPr>
                      <a:r>
                        <a:rPr b="1" lang="en-US" sz="900" u="none" cap="none" strike="noStrike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Cost</a:t>
                      </a:r>
                      <a:endParaRPr sz="900" u="none" cap="none" strike="noStrike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2237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Process mapping, gap analysis &amp; fit-gap (fixed fee, 8 wks)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€64,350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3878E"/>
                        </a:buClr>
                        <a:buSzPts val="900"/>
                        <a:buFont typeface="Inter"/>
                        <a:buNone/>
                      </a:pPr>
                      <a:r>
                        <a:rPr b="1" lang="en-US" sz="900" u="none" cap="none" strike="noStrike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PHASE 2 — Cloud TMS, BTP &amp; WhatsApp Integration (Core)</a:t>
                      </a:r>
                      <a:endParaRPr sz="900" u="none" cap="none" strike="noStrike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22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Calibri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5875">
                      <a:solidFill>
                        <a:srgbClr val="1A20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2237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Delivery team — integration lead, engineers, PM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€294,250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 migration &amp; cleansing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€42,000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Cloud TMS / BTP / WhatsApp — setup &amp; onboarding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€15,000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Contingency (~8%)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lang="en-US" sz="950" u="none" cap="none" strike="noStrike">
                          <a:solidFill>
                            <a:srgbClr val="1A202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€28,100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b="1" lang="en-US" sz="950" u="none" cap="none" strike="noStrike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CORE TOTAL</a:t>
                      </a:r>
                      <a:endParaRPr sz="950" u="none" cap="none" strike="noStrike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02C"/>
                        </a:buClr>
                        <a:buSzPts val="950"/>
                        <a:buFont typeface="Inter"/>
                        <a:buNone/>
                      </a:pPr>
                      <a:r>
                        <a:rPr b="1" lang="en-US" sz="950" u="none" cap="none" strike="noStrike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€444,350</a:t>
                      </a:r>
                      <a:endParaRPr sz="950" u="none" cap="none" strike="noStrike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587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4D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A6A80"/>
                        </a:buClr>
                        <a:buSzPts val="950"/>
                        <a:buFont typeface="Inter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0A6A8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Headroom left in the €500K budget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A6A80"/>
                        </a:buClr>
                        <a:buSzPts val="950"/>
                        <a:buFont typeface="Inter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0A6A8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€55,650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B4D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45309"/>
                        </a:buClr>
                        <a:buSzPts val="950"/>
                        <a:buFont typeface="Inter"/>
                        <a:buNone/>
                      </a:pPr>
                      <a:r>
                        <a:rPr i="1" lang="en-US" sz="9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SAP upgrade contingency (client-side, if needed)*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1E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45309"/>
                        </a:buClr>
                        <a:buSzPts val="950"/>
                        <a:buFont typeface="Inter"/>
                        <a:buNone/>
                      </a:pPr>
                      <a:r>
                        <a:rPr i="1" lang="en-US" sz="9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€100–250K</a:t>
                      </a:r>
                      <a:endParaRPr sz="950" u="none" cap="none" strike="noStrike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5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1E4"/>
                    </a:solidFill>
                  </a:tcPr>
                </a:tc>
              </a:tr>
            </a:tbl>
          </a:graphicData>
        </a:graphic>
      </p:graphicFrame>
      <p:sp>
        <p:nvSpPr>
          <p:cNvPr id="412" name="Google Shape;412;p14"/>
          <p:cNvSpPr txBox="1"/>
          <p:nvPr/>
        </p:nvSpPr>
        <p:spPr>
          <a:xfrm>
            <a:off x="457200" y="4041648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760"/>
              <a:buFont typeface="Inter"/>
              <a:buNone/>
            </a:pPr>
            <a:r>
              <a:rPr b="0" i="1" lang="en-US" sz="76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*Confirmed after the Phase 1 assessment — client-side cost, not part of the Core total. See The Connected Ecosystem for the technical detail.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4"/>
          <p:cNvSpPr/>
          <p:nvPr/>
        </p:nvSpPr>
        <p:spPr>
          <a:xfrm>
            <a:off x="5852160" y="1234440"/>
            <a:ext cx="2834640" cy="1234440"/>
          </a:xfrm>
          <a:prstGeom prst="roundRect">
            <a:avLst>
              <a:gd fmla="val 4444" name="adj"/>
            </a:avLst>
          </a:prstGeom>
          <a:solidFill>
            <a:srgbClr val="FDF1E4"/>
          </a:solidFill>
          <a:ln cap="flat" cmpd="sng" w="15875">
            <a:solidFill>
              <a:srgbClr val="B45309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4"/>
          <p:cNvSpPr/>
          <p:nvPr/>
        </p:nvSpPr>
        <p:spPr>
          <a:xfrm>
            <a:off x="5998464" y="1362456"/>
            <a:ext cx="1371600" cy="219456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4"/>
          <p:cNvSpPr txBox="1"/>
          <p:nvPr/>
        </p:nvSpPr>
        <p:spPr>
          <a:xfrm>
            <a:off x="5998464" y="136245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OPTIONAL ADD-ON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4"/>
          <p:cNvSpPr txBox="1"/>
          <p:nvPr/>
        </p:nvSpPr>
        <p:spPr>
          <a:xfrm>
            <a:off x="6016752" y="1655064"/>
            <a:ext cx="25054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Generative AI Layer  </a:t>
            </a:r>
            <a:r>
              <a:rPr b="1" i="0" lang="en-US" sz="1400" u="none" cap="none" strike="noStrike">
                <a:solidFill>
                  <a:srgbClr val="B45309"/>
                </a:solidFill>
                <a:latin typeface="Montserrat"/>
                <a:ea typeface="Montserrat"/>
                <a:cs typeface="Montserrat"/>
                <a:sym typeface="Montserrat"/>
              </a:rPr>
              <a:t>€116,000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 txBox="1"/>
          <p:nvPr/>
        </p:nvSpPr>
        <p:spPr>
          <a:xfrm>
            <a:off x="6016752" y="1947672"/>
            <a:ext cx="2505456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830"/>
              <a:buFont typeface="Inter"/>
              <a:buNone/>
            </a:pPr>
            <a:r>
              <a:rPr b="0" i="0" lang="en-US" sz="83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Document + WhatsApp understanding, full automation. Add now or after Core go-live — remove without affecting the rest.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4"/>
          <p:cNvSpPr/>
          <p:nvPr/>
        </p:nvSpPr>
        <p:spPr>
          <a:xfrm>
            <a:off x="5852150" y="2615176"/>
            <a:ext cx="2834700" cy="1636800"/>
          </a:xfrm>
          <a:prstGeom prst="roundRect">
            <a:avLst>
              <a:gd fmla="val 3077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4"/>
          <p:cNvSpPr/>
          <p:nvPr/>
        </p:nvSpPr>
        <p:spPr>
          <a:xfrm>
            <a:off x="5852143" y="2688326"/>
            <a:ext cx="41100" cy="1509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4"/>
          <p:cNvSpPr txBox="1"/>
          <p:nvPr/>
        </p:nvSpPr>
        <p:spPr>
          <a:xfrm>
            <a:off x="6053328" y="2761488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NOT IN THIS FEE — CLIENT-SIDE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 txBox="1"/>
          <p:nvPr/>
        </p:nvSpPr>
        <p:spPr>
          <a:xfrm>
            <a:off x="6053328" y="2999232"/>
            <a:ext cx="24323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950"/>
              <a:buFont typeface="Montserrat"/>
              <a:buNone/>
            </a:pPr>
            <a:r>
              <a:rPr b="1" i="0" lang="en-US" sz="9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Cloud TMS subscription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 txBox="1"/>
          <p:nvPr/>
        </p:nvSpPr>
        <p:spPr>
          <a:xfrm>
            <a:off x="6053328" y="3172968"/>
            <a:ext cx="2432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0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Low-to-mid five figures/yr, scales with seats &amp; modules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 txBox="1"/>
          <p:nvPr/>
        </p:nvSpPr>
        <p:spPr>
          <a:xfrm>
            <a:off x="6053328" y="3419856"/>
            <a:ext cx="24323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950"/>
              <a:buFont typeface="Montserrat"/>
              <a:buNone/>
            </a:pPr>
            <a:r>
              <a:rPr b="1" i="0" lang="en-US" sz="9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SAP BTP Integration Suite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 txBox="1"/>
          <p:nvPr/>
        </p:nvSpPr>
        <p:spPr>
          <a:xfrm>
            <a:off x="6053328" y="3593592"/>
            <a:ext cx="2432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0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Often bundled into a broader BTP commitment — get a quote scoped to this integration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 txBox="1"/>
          <p:nvPr/>
        </p:nvSpPr>
        <p:spPr>
          <a:xfrm>
            <a:off x="6053328" y="3840480"/>
            <a:ext cx="24323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950"/>
              <a:buFont typeface="Montserrat"/>
              <a:buNone/>
            </a:pPr>
            <a:r>
              <a:rPr b="1" i="0" lang="en-US" sz="95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WhatsApp Business API (Twilio)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 txBox="1"/>
          <p:nvPr/>
        </p:nvSpPr>
        <p:spPr>
          <a:xfrm>
            <a:off x="6053325" y="4014222"/>
            <a:ext cx="2432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760"/>
              <a:buFont typeface="Inter"/>
              <a:buNone/>
            </a:pPr>
            <a:r>
              <a:rPr b="0" i="0" lang="en-US" sz="70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Usage-based — typically low thousands/yr at this volume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457200" y="4407408"/>
            <a:ext cx="8229600" cy="621792"/>
          </a:xfrm>
          <a:prstGeom prst="roundRect">
            <a:avLst>
              <a:gd fmla="val 8824" name="adj"/>
            </a:avLst>
          </a:prstGeom>
          <a:solidFill>
            <a:srgbClr val="132237"/>
          </a:solidFill>
          <a:ln cap="flat" cmpd="sng" w="9525">
            <a:solidFill>
              <a:srgbClr val="243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4"/>
          <p:cNvSpPr/>
          <p:nvPr/>
        </p:nvSpPr>
        <p:spPr>
          <a:xfrm>
            <a:off x="457200" y="4480560"/>
            <a:ext cx="41148" cy="47548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4"/>
          <p:cNvSpPr txBox="1"/>
          <p:nvPr/>
        </p:nvSpPr>
        <p:spPr>
          <a:xfrm>
            <a:off x="685800" y="4407408"/>
            <a:ext cx="7772400" cy="62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30"/>
              <a:buFont typeface="Inter"/>
              <a:buNone/>
            </a:pPr>
            <a:r>
              <a:rPr b="1" lang="en-US" sz="93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Core investment: </a:t>
            </a:r>
            <a:r>
              <a:rPr lang="en-US" sz="93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€444,350 → Year 1 net return: €1.38M+. That's more than </a:t>
            </a:r>
            <a:r>
              <a:rPr b="1" lang="en-US" sz="93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3x back in year one</a:t>
            </a:r>
            <a:r>
              <a:rPr lang="en-US" sz="93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— even after subscriptions and a possible SAP upgrade.</a:t>
            </a:r>
            <a:r>
              <a:rPr b="1" lang="en-US" sz="93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930" u="none" cap="none" strike="noStrike">
                <a:solidFill>
                  <a:srgbClr val="DCE3E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3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Open the </a:t>
            </a:r>
            <a:r>
              <a:rPr lang="en-US" sz="93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Business</a:t>
            </a:r>
            <a:r>
              <a:rPr b="0" i="0" lang="en-US" sz="93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 Case </a:t>
            </a:r>
            <a:r>
              <a:rPr lang="en-US" sz="93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7"/>
              </a:rPr>
              <a:t>model for detailed calculation -&gt;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5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ilvertrust/transiberia/asset_silvertrust_badge.png" id="436" name="Google Shape;43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5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F3F6F8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5"/>
          <p:cNvSpPr txBox="1"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Montserrat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Strategic Ask &amp; Next Steps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9" name="Google Shape;439;p15"/>
          <p:cNvCxnSpPr/>
          <p:nvPr/>
        </p:nvCxnSpPr>
        <p:spPr>
          <a:xfrm>
            <a:off x="1828800" y="2331720"/>
            <a:ext cx="5486400" cy="0"/>
          </a:xfrm>
          <a:prstGeom prst="straightConnector1">
            <a:avLst/>
          </a:prstGeom>
          <a:noFill/>
          <a:ln cap="flat" cmpd="sng" w="19050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0" name="Google Shape;440;p15"/>
          <p:cNvSpPr/>
          <p:nvPr/>
        </p:nvSpPr>
        <p:spPr>
          <a:xfrm>
            <a:off x="1627632" y="2130552"/>
            <a:ext cx="402336" cy="40233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5"/>
          <p:cNvSpPr txBox="1"/>
          <p:nvPr/>
        </p:nvSpPr>
        <p:spPr>
          <a:xfrm>
            <a:off x="1627632" y="213055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5"/>
          <p:cNvSpPr txBox="1"/>
          <p:nvPr/>
        </p:nvSpPr>
        <p:spPr>
          <a:xfrm>
            <a:off x="457200" y="26517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BUDGET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 txBox="1"/>
          <p:nvPr/>
        </p:nvSpPr>
        <p:spPr>
          <a:xfrm>
            <a:off x="685800" y="2953512"/>
            <a:ext cx="2286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Core (€444,350) fits within the existing €500K allocation. Generative AI (€116,000) is an optional add later.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4370832" y="2130552"/>
            <a:ext cx="402336" cy="402336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5"/>
          <p:cNvSpPr txBox="1"/>
          <p:nvPr/>
        </p:nvSpPr>
        <p:spPr>
          <a:xfrm>
            <a:off x="4370832" y="213055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5"/>
          <p:cNvSpPr txBox="1"/>
          <p:nvPr/>
        </p:nvSpPr>
        <p:spPr>
          <a:xfrm>
            <a:off x="3200400" y="26517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SIGN-OFF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 txBox="1"/>
          <p:nvPr/>
        </p:nvSpPr>
        <p:spPr>
          <a:xfrm>
            <a:off x="3429000" y="2953512"/>
            <a:ext cx="2286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Sign off Phase 1 — the ecosystem &amp; process assessment across SAP, WhatsApp, Excel and the Cloud TMS fit-gap.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7114032" y="2130552"/>
            <a:ext cx="402336" cy="402336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5"/>
          <p:cNvSpPr txBox="1"/>
          <p:nvPr/>
        </p:nvSpPr>
        <p:spPr>
          <a:xfrm>
            <a:off x="7114032" y="213055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5"/>
          <p:cNvSpPr txBox="1"/>
          <p:nvPr/>
        </p:nvSpPr>
        <p:spPr>
          <a:xfrm>
            <a:off x="5943600" y="26517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LAUNCH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 txBox="1"/>
          <p:nvPr/>
        </p:nvSpPr>
        <p:spPr>
          <a:xfrm>
            <a:off x="6172200" y="2953512"/>
            <a:ext cx="2286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Assessment workshops with Marc and operational leads starting next week.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457" name="Google Shape;45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16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6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SilverTrust — by the numbers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0" name="Google Shape;460;p16"/>
          <p:cNvCxnSpPr/>
          <p:nvPr/>
        </p:nvCxnSpPr>
        <p:spPr>
          <a:xfrm>
            <a:off x="1828800" y="1737360"/>
            <a:ext cx="5486400" cy="0"/>
          </a:xfrm>
          <a:prstGeom prst="straightConnector1">
            <a:avLst/>
          </a:prstGeom>
          <a:noFill/>
          <a:ln cap="flat" cmpd="sng" w="19050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1" name="Google Shape;461;p16"/>
          <p:cNvSpPr/>
          <p:nvPr/>
        </p:nvSpPr>
        <p:spPr>
          <a:xfrm>
            <a:off x="1645920" y="1554480"/>
            <a:ext cx="365760" cy="36576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6"/>
          <p:cNvSpPr txBox="1"/>
          <p:nvPr/>
        </p:nvSpPr>
        <p:spPr>
          <a:xfrm>
            <a:off x="1645920" y="15544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6"/>
          <p:cNvSpPr txBox="1"/>
          <p:nvPr/>
        </p:nvSpPr>
        <p:spPr>
          <a:xfrm>
            <a:off x="457200" y="2029968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9 years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6"/>
          <p:cNvSpPr txBox="1"/>
          <p:nvPr/>
        </p:nvSpPr>
        <p:spPr>
          <a:xfrm>
            <a:off x="731520" y="2340864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helping enterprise teams adopt AI across Europe, since founding in 2017 with an agile team of 30 experts and engineers.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6"/>
          <p:cNvSpPr/>
          <p:nvPr/>
        </p:nvSpPr>
        <p:spPr>
          <a:xfrm>
            <a:off x="4389120" y="155448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6"/>
          <p:cNvSpPr txBox="1"/>
          <p:nvPr/>
        </p:nvSpPr>
        <p:spPr>
          <a:xfrm>
            <a:off x="4389120" y="15544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6"/>
          <p:cNvSpPr txBox="1"/>
          <p:nvPr/>
        </p:nvSpPr>
        <p:spPr>
          <a:xfrm>
            <a:off x="3200400" y="2029968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Montserrat"/>
                <a:ea typeface="Montserrat"/>
                <a:cs typeface="Montserrat"/>
                <a:sym typeface="Montserrat"/>
              </a:rPr>
              <a:t>140+ engagements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6"/>
          <p:cNvSpPr txBox="1"/>
          <p:nvPr/>
        </p:nvSpPr>
        <p:spPr>
          <a:xfrm>
            <a:off x="3474720" y="2340864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delivered across finance, healthcare, retail, manufacturing, and logistics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6"/>
          <p:cNvSpPr/>
          <p:nvPr/>
        </p:nvSpPr>
        <p:spPr>
          <a:xfrm>
            <a:off x="7132320" y="1554480"/>
            <a:ext cx="365760" cy="36576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6"/>
          <p:cNvSpPr txBox="1"/>
          <p:nvPr/>
        </p:nvSpPr>
        <p:spPr>
          <a:xfrm>
            <a:off x="7132320" y="15544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 txBox="1"/>
          <p:nvPr/>
        </p:nvSpPr>
        <p:spPr>
          <a:xfrm>
            <a:off x="5943600" y="2029968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82%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6217920" y="2340864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94E58"/>
              </a:buClr>
              <a:buSzPts val="950"/>
              <a:buFont typeface="Inter"/>
              <a:buNone/>
            </a:pPr>
            <a:r>
              <a:rPr b="0" i="0" lang="en-US" sz="9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of pilots move into full production within 12 months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6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fmla="val 8571" name="adj"/>
            </a:avLst>
          </a:prstGeom>
          <a:solidFill>
            <a:srgbClr val="F4F6F9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6"/>
          <p:cNvSpPr/>
          <p:nvPr/>
        </p:nvSpPr>
        <p:spPr>
          <a:xfrm>
            <a:off x="457200" y="4050792"/>
            <a:ext cx="41148" cy="4937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16"/>
          <p:cNvSpPr txBox="1"/>
          <p:nvPr/>
        </p:nvSpPr>
        <p:spPr>
          <a:xfrm>
            <a:off x="731520" y="3977640"/>
            <a:ext cx="7680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1300"/>
              <a:buFont typeface="Inter"/>
              <a:buNone/>
            </a:pPr>
            <a:r>
              <a:rPr b="0" i="1" lang="en-US" sz="130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“Nearly a decade of turning AI pilots into systems enterprise teams actually run.”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481" name="Google Shape;48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17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457200" y="292608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A202C"/>
                </a:solidFill>
                <a:latin typeface="Montserrat"/>
                <a:ea typeface="Montserrat"/>
                <a:cs typeface="Montserrat"/>
                <a:sym typeface="Montserrat"/>
              </a:rPr>
              <a:t>Sources &amp; References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457200" y="786384"/>
            <a:ext cx="7589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Where the numbers in this proposal come from — sourced where available, flagged where estimated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 txBox="1"/>
          <p:nvPr/>
        </p:nvSpPr>
        <p:spPr>
          <a:xfrm>
            <a:off x="457200" y="1188720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Inter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LABOR &amp; COST BENCHMARKS (SPAIN)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6" name="Google Shape;486;p17"/>
          <p:cNvCxnSpPr/>
          <p:nvPr/>
        </p:nvCxnSpPr>
        <p:spPr>
          <a:xfrm>
            <a:off x="457200" y="1563624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7" name="Google Shape;487;p17"/>
          <p:cNvSpPr txBox="1"/>
          <p:nvPr/>
        </p:nvSpPr>
        <p:spPr>
          <a:xfrm>
            <a:off x="457200" y="1399032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Barcelona logistics coordinator salary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5486400" y="1399032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Glassdoor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9" name="Google Shape;489;p17"/>
          <p:cNvCxnSpPr/>
          <p:nvPr/>
        </p:nvCxnSpPr>
        <p:spPr>
          <a:xfrm>
            <a:off x="457200" y="1746504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0" name="Google Shape;490;p17"/>
          <p:cNvSpPr txBox="1"/>
          <p:nvPr/>
        </p:nvSpPr>
        <p:spPr>
          <a:xfrm>
            <a:off x="457200" y="1581912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Spain employer social security contribution rate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7"/>
          <p:cNvSpPr txBox="1"/>
          <p:nvPr/>
        </p:nvSpPr>
        <p:spPr>
          <a:xfrm>
            <a:off x="5486400" y="1581912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Centre Gestor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2" name="Google Shape;492;p17"/>
          <p:cNvCxnSpPr/>
          <p:nvPr/>
        </p:nvCxnSpPr>
        <p:spPr>
          <a:xfrm>
            <a:off x="457200" y="1929384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3" name="Google Shape;493;p17"/>
          <p:cNvSpPr txBox="1"/>
          <p:nvPr/>
        </p:nvSpPr>
        <p:spPr>
          <a:xfrm>
            <a:off x="457200" y="1764792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Spain standard working hours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7"/>
          <p:cNvSpPr txBox="1"/>
          <p:nvPr/>
        </p:nvSpPr>
        <p:spPr>
          <a:xfrm>
            <a:off x="5486400" y="1764792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Rivermate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5" name="Google Shape;495;p17"/>
          <p:cNvCxnSpPr/>
          <p:nvPr/>
        </p:nvCxnSpPr>
        <p:spPr>
          <a:xfrm>
            <a:off x="457200" y="2112264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6" name="Google Shape;496;p17"/>
          <p:cNvSpPr txBox="1"/>
          <p:nvPr/>
        </p:nvSpPr>
        <p:spPr>
          <a:xfrm>
            <a:off x="457200" y="1947672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Spain statutory leave entitlement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5486400" y="1947672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Boundless HQ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7"/>
          <p:cNvSpPr txBox="1"/>
          <p:nvPr/>
        </p:nvSpPr>
        <p:spPr>
          <a:xfrm>
            <a:off x="457200" y="2203704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Inter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FREIGHT &amp; LOGISTICS BENCHMARKS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9" name="Google Shape;499;p17"/>
          <p:cNvCxnSpPr/>
          <p:nvPr/>
        </p:nvCxnSpPr>
        <p:spPr>
          <a:xfrm>
            <a:off x="457200" y="2578608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0" name="Google Shape;500;p17"/>
          <p:cNvSpPr txBox="1"/>
          <p:nvPr/>
        </p:nvSpPr>
        <p:spPr>
          <a:xfrm>
            <a:off x="457200" y="2414016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Freight-forwarder margin benchmarks (5–6%)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7"/>
          <p:cNvSpPr txBox="1"/>
          <p:nvPr/>
        </p:nvSpPr>
        <p:spPr>
          <a:xfrm>
            <a:off x="5486400" y="2414016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GoFreight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2" name="Google Shape;502;p17"/>
          <p:cNvCxnSpPr/>
          <p:nvPr/>
        </p:nvCxnSpPr>
        <p:spPr>
          <a:xfrm>
            <a:off x="457200" y="2761488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17"/>
          <p:cNvSpPr txBox="1"/>
          <p:nvPr/>
        </p:nvSpPr>
        <p:spPr>
          <a:xfrm>
            <a:off x="457200" y="2596896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European road freight rate benchmark, €/load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7"/>
          <p:cNvSpPr txBox="1"/>
          <p:nvPr/>
        </p:nvSpPr>
        <p:spPr>
          <a:xfrm>
            <a:off x="5486400" y="2596896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Trans-road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7"/>
          <p:cNvSpPr txBox="1"/>
          <p:nvPr/>
        </p:nvSpPr>
        <p:spPr>
          <a:xfrm>
            <a:off x="457200" y="2852928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Inter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SAP &amp; TECHNOLOGY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6" name="Google Shape;506;p17"/>
          <p:cNvCxnSpPr/>
          <p:nvPr/>
        </p:nvCxnSpPr>
        <p:spPr>
          <a:xfrm>
            <a:off x="457200" y="3227832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7" name="Google Shape;507;p17"/>
          <p:cNvSpPr txBox="1"/>
          <p:nvPr/>
        </p:nvSpPr>
        <p:spPr>
          <a:xfrm>
            <a:off x="457200" y="3063240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SAP Cloud Connector &amp; NetWeaver Gateway prerequisites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7"/>
          <p:cNvSpPr txBox="1"/>
          <p:nvPr/>
        </p:nvSpPr>
        <p:spPr>
          <a:xfrm>
            <a:off x="5486400" y="306324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SAP Community — Cloud Connector 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9" name="Google Shape;509;p17"/>
          <p:cNvCxnSpPr/>
          <p:nvPr/>
        </p:nvCxnSpPr>
        <p:spPr>
          <a:xfrm>
            <a:off x="457200" y="3410712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0" name="Google Shape;510;p17"/>
          <p:cNvSpPr txBox="1"/>
          <p:nvPr/>
        </p:nvSpPr>
        <p:spPr>
          <a:xfrm>
            <a:off x="457200" y="3246120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SAP ECC 6.0 end-of-mainstream-maintenance timeline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7"/>
          <p:cNvSpPr txBox="1"/>
          <p:nvPr/>
        </p:nvSpPr>
        <p:spPr>
          <a:xfrm>
            <a:off x="5486400" y="32461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TalentMSH — ECC 6.0 End of Life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2" name="Google Shape;512;p17"/>
          <p:cNvCxnSpPr/>
          <p:nvPr/>
        </p:nvCxnSpPr>
        <p:spPr>
          <a:xfrm>
            <a:off x="457200" y="3593592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3" name="Google Shape;513;p17"/>
          <p:cNvSpPr txBox="1"/>
          <p:nvPr/>
        </p:nvSpPr>
        <p:spPr>
          <a:xfrm>
            <a:off x="457200" y="3429000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SAP S/4HANA migration cost benchmark ($1M–$8M+, 60%+ over budget)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7"/>
          <p:cNvSpPr txBox="1"/>
          <p:nvPr/>
        </p:nvSpPr>
        <p:spPr>
          <a:xfrm>
            <a:off x="5486400" y="342900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Tachyon Tech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5" name="Google Shape;515;p17"/>
          <p:cNvCxnSpPr/>
          <p:nvPr/>
        </p:nvCxnSpPr>
        <p:spPr>
          <a:xfrm>
            <a:off x="457200" y="3776472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6" name="Google Shape;516;p17"/>
          <p:cNvSpPr txBox="1"/>
          <p:nvPr/>
        </p:nvSpPr>
        <p:spPr>
          <a:xfrm>
            <a:off x="457200" y="3611880"/>
            <a:ext cx="4937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70"/>
              <a:buFont typeface="Inter"/>
              <a:buNone/>
            </a:pPr>
            <a:r>
              <a:rPr b="0" i="0" lang="en-US" sz="87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Cloud TMS (Alpega-class) pricing reference</a:t>
            </a:r>
            <a:endParaRPr b="0" i="0" sz="8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7"/>
          <p:cNvSpPr txBox="1"/>
          <p:nvPr/>
        </p:nvSpPr>
        <p:spPr>
          <a:xfrm>
            <a:off x="5486400" y="361188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3878E"/>
              </a:buClr>
              <a:buSzPts val="800"/>
              <a:buFont typeface="Inter"/>
              <a:buNone/>
            </a:pPr>
            <a:r>
              <a:rPr b="0" i="1" lang="en-US" sz="800" u="none" cap="none" strike="noStrike">
                <a:solidFill>
                  <a:srgbClr val="83878E"/>
                </a:solidFill>
                <a:latin typeface="Inter"/>
                <a:ea typeface="Inter"/>
                <a:cs typeface="Inter"/>
                <a:sym typeface="Inter"/>
              </a:rPr>
              <a:t>ERP Research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457200" y="3895344"/>
            <a:ext cx="8229600" cy="530352"/>
          </a:xfrm>
          <a:prstGeom prst="roundRect">
            <a:avLst>
              <a:gd fmla="val 10345" name="adj"/>
            </a:avLst>
          </a:prstGeom>
          <a:solidFill>
            <a:srgbClr val="E3F7FB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7"/>
          <p:cNvSpPr/>
          <p:nvPr/>
        </p:nvSpPr>
        <p:spPr>
          <a:xfrm>
            <a:off x="457200" y="3968496"/>
            <a:ext cx="41148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7"/>
          <p:cNvSpPr txBox="1"/>
          <p:nvPr/>
        </p:nvSpPr>
        <p:spPr>
          <a:xfrm>
            <a:off x="658368" y="3895344"/>
            <a:ext cx="782726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A202C"/>
              </a:buClr>
              <a:buSzPts val="850"/>
              <a:buFont typeface="Inter"/>
              <a:buNone/>
            </a:pPr>
            <a:r>
              <a:rPr b="1" i="0" lang="en-US" sz="850" u="none" cap="none" strike="noStrike">
                <a:solidFill>
                  <a:srgbClr val="1A202C"/>
                </a:solidFill>
                <a:latin typeface="Inter"/>
                <a:ea typeface="Inter"/>
                <a:cs typeface="Inter"/>
                <a:sym typeface="Inter"/>
              </a:rPr>
              <a:t>Annex A — Business Case &amp; Detailed Calculations. </a:t>
            </a:r>
            <a:r>
              <a:rPr b="0" i="0" lang="en-US" sz="85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Every number in this proposal — assumptions, formulas and cell-level sources, including the SilverTrust Cost Detail day-rate breakdown — is documented in the full Transiberia Business Case workbook. </a:t>
            </a:r>
            <a:r>
              <a:rPr b="1" i="0" lang="en-US" sz="85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Open the Business Case model</a:t>
            </a:r>
            <a:r>
              <a:rPr b="1" i="0" lang="en-US" sz="850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/>
          <p:nvPr/>
        </p:nvSpPr>
        <p:spPr>
          <a:xfrm>
            <a:off x="457200" y="4498848"/>
            <a:ext cx="8229600" cy="512064"/>
          </a:xfrm>
          <a:prstGeom prst="roundRect">
            <a:avLst>
              <a:gd fmla="val 10714" name="adj"/>
            </a:avLst>
          </a:prstGeom>
          <a:solidFill>
            <a:srgbClr val="FDF1E4"/>
          </a:solidFill>
          <a:ln cap="flat" cmpd="sng" w="9525">
            <a:solidFill>
              <a:srgbClr val="E1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7"/>
          <p:cNvSpPr/>
          <p:nvPr/>
        </p:nvSpPr>
        <p:spPr>
          <a:xfrm>
            <a:off x="457200" y="4572000"/>
            <a:ext cx="41148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17"/>
          <p:cNvSpPr txBox="1"/>
          <p:nvPr/>
        </p:nvSpPr>
        <p:spPr>
          <a:xfrm>
            <a:off x="658368" y="4498848"/>
            <a:ext cx="78272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839"/>
              <a:buFont typeface="Inter"/>
              <a:buNone/>
            </a:pPr>
            <a:r>
              <a:rPr b="1" i="0" lang="en-US" sz="84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Not independently sourced: </a:t>
            </a:r>
            <a:r>
              <a:rPr b="0" i="0" lang="en-US" sz="840" u="none" cap="none" strike="noStrike">
                <a:solidFill>
                  <a:srgbClr val="494E58"/>
                </a:solidFill>
                <a:latin typeface="Inter"/>
                <a:ea typeface="Inter"/>
                <a:cs typeface="Inter"/>
                <a:sym typeface="Inter"/>
              </a:rPr>
              <a:t>recurring subscription costs, Generative AI usage costs and the SAP technical-upgrade contingency are SilverTrust illustrative planning figures, pending vendor quotes and the Phase 1 assessment (see Annex A above for detail).</a:t>
            </a:r>
            <a:endParaRPr b="0" i="0" sz="8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92F"/>
        </a:solidFill>
      </p:bgPr>
    </p:bg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silvertrust/transiberia/asset_silvertrust_badge.png" id="529" name="Google Shape;52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2672" y="30175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18"/>
          <p:cNvSpPr txBox="1"/>
          <p:nvPr/>
        </p:nvSpPr>
        <p:spPr>
          <a:xfrm>
            <a:off x="7973568" y="30175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1C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B7C1CC"/>
                </a:solidFill>
                <a:latin typeface="Montserrat"/>
                <a:ea typeface="Montserrat"/>
                <a:cs typeface="Montserrat"/>
                <a:sym typeface="Montserrat"/>
              </a:rPr>
              <a:t>Silver</a:t>
            </a:r>
            <a:r>
              <a:rPr b="1" i="0" lang="en-US" sz="1100" u="none" cap="none" strike="noStrike">
                <a:solidFill>
                  <a:srgbClr val="F3F6F8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8"/>
          <p:cNvSpPr txBox="1"/>
          <p:nvPr/>
        </p:nvSpPr>
        <p:spPr>
          <a:xfrm>
            <a:off x="457200" y="1005850"/>
            <a:ext cx="4943400" cy="201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“</a:t>
            </a:r>
            <a:r>
              <a:rPr b="1" lang="en-US" sz="24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Fix the cost. Then scale. Then AI. All within your €500K budget — paying back more than 3x in year one. </a:t>
            </a:r>
            <a:r>
              <a:rPr b="1" i="0" lang="en-US" sz="2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8"/>
          <p:cNvSpPr txBox="1"/>
          <p:nvPr/>
        </p:nvSpPr>
        <p:spPr>
          <a:xfrm>
            <a:off x="457200" y="3063247"/>
            <a:ext cx="5120700" cy="73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200"/>
              <a:buFont typeface="Inter"/>
              <a:buNone/>
            </a:pPr>
            <a:r>
              <a:rPr b="1" i="0" lang="en-US" sz="120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— SilverTrust, on partnering with Transiberia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5623560" y="10515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50"/>
              <a:buFont typeface="Inter"/>
              <a:buNone/>
            </a:pPr>
            <a:r>
              <a:rPr b="1" i="0" lang="en-US" sz="9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YOUR TRANSFORMATION PARTNERS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silvertrust/transiberia/asset_headshot_ioanna.png" id="534" name="Google Shape;53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23560" y="141732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18"/>
          <p:cNvSpPr txBox="1"/>
          <p:nvPr/>
        </p:nvSpPr>
        <p:spPr>
          <a:xfrm>
            <a:off x="6355080" y="138988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Ioanna Renta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8"/>
          <p:cNvSpPr txBox="1"/>
          <p:nvPr/>
        </p:nvSpPr>
        <p:spPr>
          <a:xfrm>
            <a:off x="6355080" y="160020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Sr AI Consultant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8"/>
          <p:cNvSpPr txBox="1"/>
          <p:nvPr/>
        </p:nvSpPr>
        <p:spPr>
          <a:xfrm>
            <a:off x="6355080" y="1801368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Ioanna.Renta@silvertrust.co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silvertrust/transiberia/asset_headshot_elizabeta.png" id="538" name="Google Shape;53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23560" y="260604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18"/>
          <p:cNvSpPr txBox="1"/>
          <p:nvPr/>
        </p:nvSpPr>
        <p:spPr>
          <a:xfrm>
            <a:off x="6355080" y="257860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Elizabeta Marku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8"/>
          <p:cNvSpPr txBox="1"/>
          <p:nvPr/>
        </p:nvSpPr>
        <p:spPr>
          <a:xfrm>
            <a:off x="6355080" y="278892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Inter"/>
                <a:ea typeface="Inter"/>
                <a:cs typeface="Inter"/>
                <a:sym typeface="Inter"/>
              </a:rPr>
              <a:t>Integration Consultant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8"/>
          <p:cNvSpPr txBox="1"/>
          <p:nvPr/>
        </p:nvSpPr>
        <p:spPr>
          <a:xfrm>
            <a:off x="6355080" y="2990088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B2BA"/>
              </a:buClr>
              <a:buSzPts val="900"/>
              <a:buFont typeface="Inter"/>
              <a:buNone/>
            </a:pPr>
            <a:r>
              <a:rPr b="0" i="0" lang="en-US" sz="900" u="none" cap="none" strike="noStrike">
                <a:solidFill>
                  <a:srgbClr val="ADB2BA"/>
                </a:solidFill>
                <a:latin typeface="Inter"/>
                <a:ea typeface="Inter"/>
                <a:cs typeface="Inter"/>
                <a:sym typeface="Inter"/>
              </a:rPr>
              <a:t>Elizabeta.Marke@silvertrust.co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