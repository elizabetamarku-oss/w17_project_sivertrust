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37DDD-FCB9-4914-93A0-70C2B95D4AB3}">
  <a:tblStyle styleId="{C0637DDD-FCB9-4914-93A0-70C2B95D4A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Inter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will also have a </a:t>
            </a:r>
            <a:r>
              <a:rPr lang="en-US"/>
              <a:t>positive</a:t>
            </a:r>
            <a:r>
              <a:rPr lang="en-US"/>
              <a:t> impact of exception handling and penalties cost (3-5% loads needed manual intervention, reduced - </a:t>
            </a:r>
            <a:r>
              <a:rPr lang="en-US"/>
              <a:t>penalties</a:t>
            </a:r>
            <a:r>
              <a:rPr lang="en-US"/>
              <a:t> risk)</a:t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0c3eb9df_1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fa0c3eb9df_1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a0c3eb9df_1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0c3eb9df_1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a0c3eb9df_1_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a0c3eb9df_1_2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a0c3eb9df_1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fa0c3eb9df_1_3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a0c3eb9df_1_3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a0c3eb9df_1_3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fa0c3eb9df_1_3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a0c3eb9df_1_3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a0c3eb9df_1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fa0c3eb9df_1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a0c3eb9df_1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a0c3eb9df_1_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fa0c3eb9df_1_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a0c3eb9df_1_5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a0c3eb9df_1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fa0c3eb9df_1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fa0c3eb9df_1_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a0c3eb9df_1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fa0c3eb9df_1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fa0c3eb9df_1_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a0c3eb9df_1_6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fa0c3eb9df_1_6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a0c3eb9df_1_6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a0c3eb9df_1_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3fa0c3eb9df_1_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a0c3eb9df_1_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a0c3eb9df_1_6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fa0c3eb9df_1_6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a0c3eb9df_1_6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a0c3eb9df_1_7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fa0c3eb9df_1_7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fa0c3eb9df_1_7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spreadsheets/d/1qGZx3hbo8ruO5MGGM-UMu2r2Tp4Nhy96ZkD2yrbDKn8/edit?usp=drive_link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spreadsheets/d/1qGZx3hbo8ruO5MGGM-UMu2r2Tp4Nhy96ZkD2yrbDKn8/edit?usp=drive_link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/asset_silvertrust_badge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7973568" y="3017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F3F6F8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9601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Proposal for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ilvertrust/transiberia/asset_transiberia_logo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3420" y="923550"/>
            <a:ext cx="33832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457200" y="1371600"/>
            <a:ext cx="5001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Infrastructure &amp; Proactive Exception Tracking for Transiberia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45720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05/09/2026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5623560" y="9601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ilvertrust/transiberia/asset_headshot_ioanna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23560" y="132588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355080" y="129844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Ioanna Renta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6355080" y="1527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Sr AI Consultant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355080" y="174650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20+ years of experience in logistics and retail sectors transforming operations and leading engineering teams.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ilvertrust/transiberia/asset_headshot_elizabeta.png" id="27" name="Google Shape;2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3560" y="251460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6355080" y="248716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Elizabeta Marku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6355080" y="271576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b="1" i="0" lang="en-US" sz="11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Integration Consultant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6355080" y="2935224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10+ years of experience automating business operations and connecting systems together.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/asset_silvertrust_badge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/>
        </p:nvSpPr>
        <p:spPr>
          <a:xfrm>
            <a:off x="7973568" y="3017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F3F6F8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457200" y="292608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 Context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457200" y="78638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What We Heard: Baseline &amp; Goals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234440"/>
            <a:ext cx="2590800" cy="3291840"/>
          </a:xfrm>
          <a:prstGeom prst="roundRect">
            <a:avLst>
              <a:gd fmla="val 2118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1307592"/>
            <a:ext cx="41148" cy="3145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658368" y="1417320"/>
            <a:ext cx="222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640080" y="169164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1,000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58368" y="2331720"/>
            <a:ext cx="222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Weekly Loads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58368" y="2651760"/>
            <a:ext cx="218846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Transiberia coordinates shipments across Spain and Portugal since 1987. Operating as a</a:t>
            </a:r>
            <a:r>
              <a:rPr b="1" i="0" lang="en-US" sz="10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 freight forwarder</a:t>
            </a: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 without an active fleet, 120 employees manage 1,000 weekly loads.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76600" y="1234440"/>
            <a:ext cx="2590800" cy="3291840"/>
          </a:xfrm>
          <a:prstGeom prst="roundRect">
            <a:avLst>
              <a:gd fmla="val 2118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76600" y="1307592"/>
            <a:ext cx="41148" cy="3145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3477768" y="1417320"/>
            <a:ext cx="222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3459480" y="169164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5%–6%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3477768" y="2331720"/>
            <a:ext cx="222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Compressed Margins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3477768" y="2651760"/>
            <a:ext cx="218846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Currently, margins are compressed to 5%–6% per pallet due to global competition, pushing operations into a </a:t>
            </a:r>
            <a:r>
              <a:rPr b="1" i="0" lang="en-US" sz="10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non-profitable state</a:t>
            </a: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Core infrastructure relies on a legacy 2005 SAP framework and fragmented manual channels like WhatsApp and Excel.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096000" y="1234440"/>
            <a:ext cx="2590800" cy="3291840"/>
          </a:xfrm>
          <a:prstGeom prst="roundRect">
            <a:avLst>
              <a:gd fmla="val 2118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096000" y="1307592"/>
            <a:ext cx="41148" cy="3145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6297168" y="1417320"/>
            <a:ext cx="2225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12-MONTH TARGETS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6278880" y="1691640"/>
            <a:ext cx="222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+25%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6297168" y="2331720"/>
            <a:ext cx="2225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Volume Scale Target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6297168" y="2651760"/>
            <a:ext cx="218846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Over the next 12 months, leadership targets a 25% volume scale to </a:t>
            </a:r>
            <a:r>
              <a:rPr b="1" i="0" lang="en-US" sz="10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1,250–1,500 weekly loads</a:t>
            </a: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, and a </a:t>
            </a:r>
            <a:r>
              <a:rPr b="1" i="0" lang="en-US" sz="10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35%–40% revenue expansion</a:t>
            </a:r>
            <a:r>
              <a:rPr b="0" i="0" lang="en-US" sz="10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/asset_silvertrust_badge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/>
          <p:nvPr/>
        </p:nvSpPr>
        <p:spPr>
          <a:xfrm>
            <a:off x="7973568" y="3017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457200" y="292608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The Core Problem Statement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457200" y="78638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High cost of operational blind spots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fmla="val 166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" y="1307592"/>
            <a:ext cx="41148" cy="3145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658368" y="141732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TROUBLESHOOTING DRAIN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640080" y="16916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400"/>
              <a:buFont typeface="Montserrat"/>
              <a:buNone/>
            </a:pPr>
            <a:r>
              <a:rPr b="1" i="0" lang="en-US" sz="3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20–30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658368" y="2331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HOURS LOST / WEEK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658368" y="2651760"/>
            <a:ext cx="352958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 total lack of centralize</a:t>
            </a:r>
            <a:r>
              <a:rPr b="0" i="0" lang="en-US" sz="10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d visibility forces </a:t>
            </a:r>
            <a:r>
              <a:rPr b="1" i="0" lang="en-US" sz="10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reactive exception management</a:t>
            </a:r>
            <a:r>
              <a:rPr b="0" i="0" lang="en-US" sz="10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. Transport delays and missing shipments — averaging 3% to 5% of weekly loads — are only discovered after customer complaints or missed deadlines. This operational blind spot drains 20 to 30 hours per week in </a:t>
            </a:r>
            <a:r>
              <a:rPr i="0" lang="en-US" sz="10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manual troubleshooting.</a:t>
            </a:r>
            <a:endParaRPr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617720" y="1234440"/>
            <a:ext cx="4069080" cy="1536192"/>
          </a:xfrm>
          <a:prstGeom prst="roundRect">
            <a:avLst>
              <a:gd fmla="val 3571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617720" y="1307592"/>
            <a:ext cx="4114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 txBox="1"/>
          <p:nvPr/>
        </p:nvSpPr>
        <p:spPr>
          <a:xfrm>
            <a:off x="4818888" y="1399032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ADMIN COST INFLATION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4800600" y="164592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600"/>
              <a:buFont typeface="Montserrat"/>
              <a:buNone/>
            </a:pPr>
            <a:r>
              <a:rPr b="1" i="0" lang="en-US" sz="26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€80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4818888" y="2121408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OVERHEAD PER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818888" y="2359152"/>
            <a:ext cx="3666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Administrative processing costs are inflated to €80 per load.</a:t>
            </a:r>
            <a:endParaRPr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617720" y="2916936"/>
            <a:ext cx="4069080" cy="1609344"/>
          </a:xfrm>
          <a:prstGeom prst="roundRect">
            <a:avLst>
              <a:gd fmla="val 3409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617720" y="2990088"/>
            <a:ext cx="4114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4818888" y="3081528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FATAL PENALTY EXPOSURE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4800600" y="3328416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€50,000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4818888" y="3803904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MAX RISK PER FATAL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4818888" y="4041648"/>
            <a:ext cx="3666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Critical incidents expose the company to catastrophic financial penalties of up to €50,000 per fatal load.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/asset_silvertrust_badge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 txBox="1"/>
          <p:nvPr/>
        </p:nvSpPr>
        <p:spPr>
          <a:xfrm>
            <a:off x="7973568" y="3017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57200" y="292608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The Cost of Operating As-Is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457200" y="78638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Why cost efficiency is the fastest path back to profitability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fmla="val 166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" y="1307592"/>
            <a:ext cx="41148" cy="31455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658368" y="141732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ANNUAL PROCESSING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640080" y="16916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3400"/>
              <a:buFont typeface="Montserrat"/>
              <a:buNone/>
            </a:pPr>
            <a:r>
              <a:rPr b="1" i="0" lang="en-US" sz="3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€4.16M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658368" y="2331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SPENT PROCESSING TODAY'S VOLUME / YEAR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658368" y="2651760"/>
            <a:ext cx="3529584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1050"/>
              <a:buFont typeface="Inter"/>
              <a:buNone/>
            </a:pPr>
            <a:r>
              <a:rPr b="0" i="0" lang="en-US" sz="100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At €80 in administrative cost per load across 1,000 weekly loads, Transiberia spends €4.16M a year just to process freight — before a single delay or exception is accounted for.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617720" y="1234440"/>
            <a:ext cx="4069080" cy="1536192"/>
          </a:xfrm>
          <a:prstGeom prst="roundRect">
            <a:avLst>
              <a:gd fmla="val 3571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617720" y="1307592"/>
            <a:ext cx="4114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4818888" y="1399032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EXCEPTION &amp; PENALTY EXPOSURE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4800600" y="1645920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600"/>
              <a:buFont typeface="Montserrat"/>
              <a:buNone/>
            </a:pPr>
            <a:r>
              <a:rPr b="1" i="0" lang="en-US" sz="26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Up to €3.0M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818888" y="2121408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ANNUAL WORST-CASE EXPOSURE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818888" y="2359152"/>
            <a:ext cx="3666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0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3–5% of weekly loads need manual intervention, and fatal incidents are capped at €50,000 each</a:t>
            </a:r>
            <a:r>
              <a:rPr lang="en-US" sz="90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17720" y="2916936"/>
            <a:ext cx="4069080" cy="1609344"/>
          </a:xfrm>
          <a:prstGeom prst="roundRect">
            <a:avLst>
              <a:gd fmla="val 3409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617720" y="2990088"/>
            <a:ext cx="4114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4818888" y="3081528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SCALING ON TODAY’S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4800600" y="3328416"/>
            <a:ext cx="3703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"/>
              <a:buNone/>
            </a:pPr>
            <a:r>
              <a:rPr b="1"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 €2.3M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4818888" y="3803904"/>
            <a:ext cx="3703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NEEDED JUST TO HIT THE GROWTH 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4818888" y="4041648"/>
            <a:ext cx="3666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950"/>
              <a:buFont typeface="Inter"/>
              <a:buNone/>
            </a:pPr>
            <a:r>
              <a:rPr lang="en-US" sz="900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At today's throughput (8.3 loads/employee/week), reaching the +25–50% volume target means hiring 30 to 60 more people — up to €2.3M in additional cost the current setup can't absorb.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/asset_silvertrust_badge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/>
          <p:nvPr/>
        </p:nvSpPr>
        <p:spPr>
          <a:xfrm>
            <a:off x="7973568" y="3017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457200" y="292608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Proposed Architecture &amp; Workflow Shift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457200" y="786384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From reactive firefighting to predictive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457200" y="128016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CURRENT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457200" y="15179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Legacy Day-to-Day Operations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457200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Workflows are dominated by manual Excel entry and phone negotiations. Operations remain purely reactive, firefighting exceptions as they occur.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4572000" y="1280160"/>
            <a:ext cx="0" cy="1417320"/>
          </a:xfrm>
          <a:prstGeom prst="straightConnector1">
            <a:avLst/>
          </a:prstGeom>
          <a:noFill/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"/>
          <p:cNvSpPr txBox="1"/>
          <p:nvPr/>
        </p:nvSpPr>
        <p:spPr>
          <a:xfrm>
            <a:off x="4754880" y="128016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FUTURE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4754880" y="15179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Automated Ingestion &amp; Alerts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4754880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 self-hosted n8n orchestrator with on-premise AI reads SAP order emails, WhatsApp and PDFs directly into one connected view — shifting workflow entirely to predictive orchestration with automated delay alerting.</a:t>
            </a:r>
            <a:endParaRPr sz="1050">
              <a:solidFill>
                <a:srgbClr val="494E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3063240"/>
            <a:ext cx="3931920" cy="1417320"/>
          </a:xfrm>
          <a:prstGeom prst="roundRect">
            <a:avLst>
              <a:gd fmla="val 3871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57200" y="3136392"/>
            <a:ext cx="41148" cy="1271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685800" y="32461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ADB2BA"/>
                </a:solidFill>
                <a:latin typeface="Montserrat"/>
                <a:ea typeface="Montserrat"/>
                <a:cs typeface="Montserrat"/>
                <a:sym typeface="Montserrat"/>
              </a:rPr>
              <a:t>8h</a:t>
            </a:r>
            <a:r>
              <a:rPr b="0" i="0" lang="en-US" sz="2800" u="none" cap="none" strike="noStrike">
                <a:solidFill>
                  <a:srgbClr val="83878E"/>
                </a:solidFill>
                <a:latin typeface="Montserrat"/>
                <a:ea typeface="Montserrat"/>
                <a:cs typeface="Montserrat"/>
                <a:sym typeface="Montserrat"/>
              </a:rPr>
              <a:t>  →  </a:t>
            </a:r>
            <a:r>
              <a:rPr b="1" i="0" lang="en-US" sz="28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2h</a:t>
            </a:r>
            <a:endParaRPr b="0" i="0" sz="28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704088" y="3886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CARRIER ASSIGNMENT TIME TARGET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754880" y="3063240"/>
            <a:ext cx="3931920" cy="1417320"/>
          </a:xfrm>
          <a:prstGeom prst="roundRect">
            <a:avLst>
              <a:gd fmla="val 3871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754880" y="3136392"/>
            <a:ext cx="41148" cy="1271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4983480" y="32461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Montserrat"/>
              <a:buNone/>
            </a:pPr>
            <a:r>
              <a:rPr b="1" i="0" lang="en-US" sz="2800" u="none" cap="none" strike="noStrike">
                <a:solidFill>
                  <a:srgbClr val="ADB2BA"/>
                </a:solidFill>
                <a:latin typeface="Montserrat"/>
                <a:ea typeface="Montserrat"/>
                <a:cs typeface="Montserrat"/>
                <a:sym typeface="Montserrat"/>
              </a:rPr>
              <a:t>€80</a:t>
            </a:r>
            <a:r>
              <a:rPr b="0" i="0" lang="en-US" sz="2800" u="none" cap="none" strike="noStrike">
                <a:solidFill>
                  <a:srgbClr val="83878E"/>
                </a:solidFill>
                <a:latin typeface="Montserrat"/>
                <a:ea typeface="Montserrat"/>
                <a:cs typeface="Montserrat"/>
                <a:sym typeface="Montserrat"/>
              </a:rPr>
              <a:t>  →  </a:t>
            </a:r>
            <a:r>
              <a:rPr b="1" i="0" lang="en-US" sz="28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€40</a:t>
            </a:r>
            <a:endParaRPr b="0" i="0" sz="28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001768" y="38862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OPERATIONAL PROCESSING COST (-50%)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/asset_silvertrust_badge.png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7973568" y="30175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457200" y="29260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Current State — Operational Process Map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How Transiberia runs today, from pricing request to delivery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118872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4572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1741932" y="1170432"/>
            <a:ext cx="82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57200" y="151790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Pricing/Shipment Request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1975104"/>
            <a:ext cx="1280160" cy="896112"/>
          </a:xfrm>
          <a:prstGeom prst="roundRect">
            <a:avLst>
              <a:gd fmla="val 5102" name="adj"/>
            </a:avLst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530352" y="2029968"/>
            <a:ext cx="113385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Shipper sends shipment request and </a:t>
            </a:r>
            <a:r>
              <a:rPr lang="en-US" sz="83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associated </a:t>
            </a:r>
            <a:r>
              <a:rPr lang="en-US" sz="83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rate</a:t>
            </a: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by email</a:t>
            </a:r>
            <a:r>
              <a:rPr lang="en-US" sz="83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unstructured, case by case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828800" y="1188720"/>
            <a:ext cx="274320" cy="27432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8288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3113532" y="1170432"/>
            <a:ext cx="82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1828800" y="151790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Booking &amp; Order Entry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828800" y="1975104"/>
            <a:ext cx="1280160" cy="896112"/>
          </a:xfrm>
          <a:prstGeom prst="roundRect">
            <a:avLst>
              <a:gd fmla="val 5102" name="adj"/>
            </a:avLst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1901952" y="2029968"/>
            <a:ext cx="113385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Price agreed; re-keyed by hand into legacy SAP (2005) and parallel Excel sheets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200400" y="1188720"/>
            <a:ext cx="274320" cy="27432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32004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4485132" y="1170432"/>
            <a:ext cx="82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3200400" y="151790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Carrier Assignment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200400" y="1975104"/>
            <a:ext cx="1280160" cy="896112"/>
          </a:xfrm>
          <a:prstGeom prst="roundRect">
            <a:avLst>
              <a:gd fmla="val 5102" name="adj"/>
            </a:avLst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3273552" y="2029968"/>
            <a:ext cx="113385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Manual matching against availability — ~8 hours order </a:t>
            </a:r>
            <a:r>
              <a:rPr lang="en-US" sz="83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assignment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0" y="1188720"/>
            <a:ext cx="274320" cy="27432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45720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5856732" y="1170432"/>
            <a:ext cx="82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4572000" y="151790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Pickup &amp; Transit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0" y="1975104"/>
            <a:ext cx="1280160" cy="896112"/>
          </a:xfrm>
          <a:prstGeom prst="roundRect">
            <a:avLst>
              <a:gd fmla="val 5102" name="adj"/>
            </a:avLst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4645152" y="2029968"/>
            <a:ext cx="113385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Carrier collects cargo and moves it; GPS app for a minority of carriers only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943600" y="1188720"/>
            <a:ext cx="274320" cy="27432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59436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7228332" y="1170432"/>
            <a:ext cx="82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943600" y="151790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Delivery &amp; 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943600" y="1975104"/>
            <a:ext cx="1280160" cy="896112"/>
          </a:xfrm>
          <a:prstGeom prst="roundRect">
            <a:avLst>
              <a:gd fmla="val 5102" name="adj"/>
            </a:avLst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6016752" y="2029968"/>
            <a:ext cx="113385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Proof of delivery confirmed by phone or paper — chased manually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315200" y="1188720"/>
            <a:ext cx="274320" cy="27432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7315200" y="1188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7315200" y="1517904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Invoicing &amp; Reporting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315200" y="1975104"/>
            <a:ext cx="1280160" cy="896112"/>
          </a:xfrm>
          <a:prstGeom prst="roundRect">
            <a:avLst>
              <a:gd fmla="val 5102" name="adj"/>
            </a:avLst>
          </a:prstGeom>
          <a:solidFill>
            <a:srgbClr val="F4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7388352" y="2029968"/>
            <a:ext cx="113385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Manual reconciliation of accounting and performance data across fragmented systems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3200400" y="2871216"/>
            <a:ext cx="0" cy="256032"/>
          </a:xfrm>
          <a:prstGeom prst="straightConnector1">
            <a:avLst/>
          </a:prstGeom>
          <a:noFill/>
          <a:ln cap="flat" cmpd="sng" w="15875">
            <a:solidFill>
              <a:srgbClr val="B45309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1" name="Google Shape;181;p8"/>
          <p:cNvCxnSpPr/>
          <p:nvPr/>
        </p:nvCxnSpPr>
        <p:spPr>
          <a:xfrm>
            <a:off x="7223760" y="2871216"/>
            <a:ext cx="0" cy="256032"/>
          </a:xfrm>
          <a:prstGeom prst="straightConnector1">
            <a:avLst/>
          </a:prstGeom>
          <a:noFill/>
          <a:ln cap="flat" cmpd="sng" w="15875">
            <a:solidFill>
              <a:srgbClr val="B4530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2" name="Google Shape;182;p8"/>
          <p:cNvSpPr/>
          <p:nvPr/>
        </p:nvSpPr>
        <p:spPr>
          <a:xfrm>
            <a:off x="3200400" y="3127248"/>
            <a:ext cx="4023360" cy="1207008"/>
          </a:xfrm>
          <a:prstGeom prst="roundRect">
            <a:avLst>
              <a:gd fmla="val 4545" name="adj"/>
            </a:avLst>
          </a:prstGeom>
          <a:solidFill>
            <a:srgbClr val="FDF1E4"/>
          </a:solidFill>
          <a:ln cap="flat" cmpd="sng" w="15875">
            <a:solidFill>
              <a:srgbClr val="B4530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3401568" y="3236976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RUNS IN PARALLEL, THROUGHOUT TRANSIT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3401568" y="3474720"/>
            <a:ext cx="3621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Exception Monitoring — Reactive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3401568" y="3749040"/>
            <a:ext cx="36210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No automated alerts. Delays or missing shipments surface only after a customer complaint or a carrier flags a missed deadline — forcing ad hoc recovery: re-routing, a backup carrier at premium rate, or a refund.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4480560"/>
            <a:ext cx="1954530" cy="566928"/>
          </a:xfrm>
          <a:prstGeom prst="roundRect">
            <a:avLst>
              <a:gd fmla="val 967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4553712"/>
            <a:ext cx="4114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603504" y="4535424"/>
            <a:ext cx="16802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20–30 hrs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603504" y="4809744"/>
            <a:ext cx="16802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lost per week to manual troubleshooting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548890" y="4480560"/>
            <a:ext cx="1954530" cy="566928"/>
          </a:xfrm>
          <a:prstGeom prst="roundRect">
            <a:avLst>
              <a:gd fmla="val 967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548890" y="4553712"/>
            <a:ext cx="4114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 txBox="1"/>
          <p:nvPr/>
        </p:nvSpPr>
        <p:spPr>
          <a:xfrm>
            <a:off x="2695194" y="4535424"/>
            <a:ext cx="16802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€80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2695194" y="4809744"/>
            <a:ext cx="16802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operational cost per load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640580" y="4480560"/>
            <a:ext cx="1954530" cy="566928"/>
          </a:xfrm>
          <a:prstGeom prst="roundRect">
            <a:avLst>
              <a:gd fmla="val 967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640580" y="4553712"/>
            <a:ext cx="4114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4786884" y="4535424"/>
            <a:ext cx="16802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3–5%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4786875" y="4809750"/>
            <a:ext cx="168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of weekly loads need manual intervention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732270" y="4480560"/>
            <a:ext cx="1954530" cy="566928"/>
          </a:xfrm>
          <a:prstGeom prst="roundRect">
            <a:avLst>
              <a:gd fmla="val 967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732270" y="4553712"/>
            <a:ext cx="41148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6878574" y="4535424"/>
            <a:ext cx="168021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6878574" y="4809744"/>
            <a:ext cx="16802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systems with a single source of truth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457200" y="292608"/>
            <a:ext cx="758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000"/>
              <a:buFont typeface="Montserrat"/>
              <a:buNone/>
            </a:pPr>
            <a:r>
              <a:rPr b="1" i="0" lang="en-US" sz="20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Future State — Proactive Operating Model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457200" y="749808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Same process, same team — orchestrated by n8n, with AI built in from step 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1188720"/>
            <a:ext cx="274200" cy="274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457200" y="1188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1741932" y="1170432"/>
            <a:ext cx="8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457200" y="15179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Pricing Request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1975104"/>
            <a:ext cx="1280100" cy="896100"/>
          </a:xfrm>
          <a:prstGeom prst="roundRect">
            <a:avLst>
              <a:gd fmla="val 5102" name="adj"/>
            </a:avLst>
          </a:prstGeom>
          <a:solidFill>
            <a:srgbClr val="E3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530352" y="2029968"/>
            <a:ext cx="11340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Same channels — auto-captured by n8n's on-premise AI, no re-typing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828800" y="1188720"/>
            <a:ext cx="274200" cy="2742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1828800" y="1188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3113532" y="1170432"/>
            <a:ext cx="8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828800" y="15179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Booking &amp; Order Entry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828800" y="1975104"/>
            <a:ext cx="1280100" cy="896100"/>
          </a:xfrm>
          <a:prstGeom prst="roundRect">
            <a:avLst>
              <a:gd fmla="val 5102" name="adj"/>
            </a:avLst>
          </a:prstGeom>
          <a:solidFill>
            <a:srgbClr val="E3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1901952" y="2029968"/>
            <a:ext cx="11340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Entered once — n8n syncs it to the live dashboard and writes back to SAP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200400" y="1188720"/>
            <a:ext cx="274200" cy="2742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3200400" y="1188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4485132" y="1170432"/>
            <a:ext cx="8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3200400" y="15179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Carrier Assignment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200400" y="1975104"/>
            <a:ext cx="1280100" cy="896100"/>
          </a:xfrm>
          <a:prstGeom prst="roundRect">
            <a:avLst>
              <a:gd fmla="val 5102" name="adj"/>
            </a:avLst>
          </a:prstGeom>
          <a:solidFill>
            <a:srgbClr val="E3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273552" y="2029968"/>
            <a:ext cx="11340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Target: 2 hours, aided by the AI carrier scorer ranking live availability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0" y="1188720"/>
            <a:ext cx="274200" cy="2742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4572000" y="1188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5856732" y="1170432"/>
            <a:ext cx="8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4572000" y="15179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Pickup &amp; Transit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72000" y="1975104"/>
            <a:ext cx="1280100" cy="896100"/>
          </a:xfrm>
          <a:prstGeom prst="roundRect">
            <a:avLst>
              <a:gd fmla="val 5102" name="adj"/>
            </a:avLst>
          </a:prstGeom>
          <a:solidFill>
            <a:srgbClr val="E3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4645152" y="2029968"/>
            <a:ext cx="11340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One view: GPS webhook + parsed email/WhatsApp signals — no chasing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943600" y="1188720"/>
            <a:ext cx="274200" cy="2742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5943600" y="1188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7228332" y="1170432"/>
            <a:ext cx="8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5943600" y="15179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Delivery &amp; POD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943600" y="1975104"/>
            <a:ext cx="1280100" cy="896100"/>
          </a:xfrm>
          <a:prstGeom prst="roundRect">
            <a:avLst>
              <a:gd fmla="val 5102" name="adj"/>
            </a:avLst>
          </a:prstGeom>
          <a:solidFill>
            <a:srgbClr val="E3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6016752" y="2029968"/>
            <a:ext cx="11340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ePOD confirmation captured and synced to the system automatically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315200" y="1188720"/>
            <a:ext cx="274200" cy="2742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7315200" y="118872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7315200" y="1517904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Invoicing &amp; Reporting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315200" y="1975104"/>
            <a:ext cx="1280100" cy="896100"/>
          </a:xfrm>
          <a:prstGeom prst="roundRect">
            <a:avLst>
              <a:gd fmla="val 5102" name="adj"/>
            </a:avLst>
          </a:prstGeom>
          <a:solidFill>
            <a:srgbClr val="E3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7388352" y="2029968"/>
            <a:ext cx="11340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Inter"/>
              <a:buNone/>
            </a:pPr>
            <a:r>
              <a:rPr b="0" i="0" lang="en-US" sz="83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Pulled straight from the single source of truth — faster reconciliation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3200400" y="2871216"/>
            <a:ext cx="0" cy="255900"/>
          </a:xfrm>
          <a:prstGeom prst="straightConnector1">
            <a:avLst/>
          </a:prstGeom>
          <a:noFill/>
          <a:ln cap="flat" cmpd="sng" w="15875">
            <a:solidFill>
              <a:srgbClr val="00B4D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7" name="Google Shape;247;p9"/>
          <p:cNvCxnSpPr/>
          <p:nvPr/>
        </p:nvCxnSpPr>
        <p:spPr>
          <a:xfrm>
            <a:off x="7223760" y="2871216"/>
            <a:ext cx="0" cy="255900"/>
          </a:xfrm>
          <a:prstGeom prst="straightConnector1">
            <a:avLst/>
          </a:prstGeom>
          <a:noFill/>
          <a:ln cap="flat" cmpd="sng" w="15875">
            <a:solidFill>
              <a:srgbClr val="00B4D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8" name="Google Shape;248;p9"/>
          <p:cNvSpPr/>
          <p:nvPr/>
        </p:nvSpPr>
        <p:spPr>
          <a:xfrm>
            <a:off x="3200400" y="3127248"/>
            <a:ext cx="4023300" cy="1206900"/>
          </a:xfrm>
          <a:prstGeom prst="roundRect">
            <a:avLst>
              <a:gd fmla="val 4545" name="adj"/>
            </a:avLst>
          </a:prstGeom>
          <a:solidFill>
            <a:srgbClr val="E3F7FB"/>
          </a:solidFill>
          <a:ln cap="flat" cmpd="sng" w="15875">
            <a:solidFill>
              <a:srgbClr val="00B4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3401568" y="3236976"/>
            <a:ext cx="3621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RUNS IN PARALLEL, THROUGHOUT TRANSIT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3401568" y="3474720"/>
            <a:ext cx="362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Exception Monitoring — Proactive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3401568" y="3749040"/>
            <a:ext cx="3621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n8n's AI classifier compares live status against expected progress in real time and flags risk to ops — with enough lead time to reroute or notify the customer before a deadline is missed, not after.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315200" y="3127248"/>
            <a:ext cx="1134000" cy="1206900"/>
          </a:xfrm>
          <a:prstGeom prst="roundRect">
            <a:avLst>
              <a:gd fmla="val 4839" name="adj"/>
            </a:avLst>
          </a:prstGeom>
          <a:solidFill>
            <a:srgbClr val="E3F7FB"/>
          </a:solidFill>
          <a:ln cap="flat" cmpd="sng" w="158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379208" y="3200400"/>
            <a:ext cx="1005900" cy="2013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7379208" y="3200400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"/>
              <a:buFont typeface="Inter"/>
              <a:buNone/>
            </a:pPr>
            <a:r>
              <a:rPr b="1" i="0" lang="en-US" sz="6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IN</a:t>
            </a:r>
            <a:endParaRPr b="0" i="0" sz="6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397496" y="3447288"/>
            <a:ext cx="969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On-Premise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7397496" y="3785616"/>
            <a:ext cx="96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720"/>
              <a:buFont typeface="Inter"/>
              <a:buNone/>
            </a:pPr>
            <a:r>
              <a:rPr b="0" i="0" lang="en-US" sz="72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Ollama LLM reads docs &amp; WhatsApp — built into the Core, zero add-on cost.</a:t>
            </a:r>
            <a:endParaRPr b="0" i="0" sz="7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57200" y="4480560"/>
            <a:ext cx="8229600" cy="567000"/>
          </a:xfrm>
          <a:prstGeom prst="roundRect">
            <a:avLst>
              <a:gd fmla="val 12903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58368" y="4700016"/>
            <a:ext cx="109800" cy="1098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877824" y="4553712"/>
            <a:ext cx="758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Target: 100% visibility over transit delays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877824" y="4809744"/>
            <a:ext cx="758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Automated alerts replace manual email/WhatsApp monitoring, and shorten the feedback loop to operators and shippers.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F3F6F8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Connected Ecosystem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n8n, self-hosted — a lean on-premise AI layer, not a SAP re-platform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57200" y="1298448"/>
            <a:ext cx="5212200" cy="658500"/>
          </a:xfrm>
          <a:prstGeom prst="roundRect">
            <a:avLst>
              <a:gd fmla="val 11111" name="adj"/>
            </a:avLst>
          </a:prstGeom>
          <a:solidFill>
            <a:srgbClr val="0E3A4A"/>
          </a:solidFill>
          <a:ln cap="flat" cmpd="sng" w="158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 txBox="1"/>
          <p:nvPr/>
        </p:nvSpPr>
        <p:spPr>
          <a:xfrm>
            <a:off x="685800" y="1380744"/>
            <a:ext cx="4755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Ingestion — Four Sources, One Gate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685800" y="1627632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SAP email · WhatsApp API · GPS webhook · PDF attachments — n8n validates every sender first.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0"/>
          <p:cNvCxnSpPr/>
          <p:nvPr/>
        </p:nvCxnSpPr>
        <p:spPr>
          <a:xfrm>
            <a:off x="777240" y="1956816"/>
            <a:ext cx="9000" cy="21030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0"/>
          <p:cNvSpPr txBox="1"/>
          <p:nvPr/>
        </p:nvSpPr>
        <p:spPr>
          <a:xfrm>
            <a:off x="694944" y="2039112"/>
            <a:ext cx="164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941832" y="1956816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760"/>
              <a:buFont typeface="Inter"/>
              <a:buNone/>
            </a:pPr>
            <a:r>
              <a:rPr b="0" i="1" lang="en-US" sz="76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n8n orchestrator — self-hosted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2212848"/>
            <a:ext cx="5212200" cy="658500"/>
          </a:xfrm>
          <a:prstGeom prst="roundRect">
            <a:avLst>
              <a:gd fmla="val 11111" name="adj"/>
            </a:avLst>
          </a:prstGeom>
          <a:solidFill>
            <a:srgbClr val="0E3A4A"/>
          </a:solidFill>
          <a:ln cap="flat" cmpd="sng" w="158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685800" y="2295144"/>
            <a:ext cx="306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Processing (4 Nodes)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3950208" y="2313432"/>
            <a:ext cx="1554600" cy="201300"/>
          </a:xfrm>
          <a:prstGeom prst="roundRect">
            <a:avLst>
              <a:gd fmla="val 50000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3950208" y="231343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640"/>
              <a:buFont typeface="Inter"/>
              <a:buNone/>
            </a:pPr>
            <a:r>
              <a:rPr b="1" i="0" lang="en-US" sz="640" u="none" cap="none" strike="noStrik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AI-NATIVE CORE</a:t>
            </a:r>
            <a:endParaRPr b="0" i="0" sz="6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685800" y="2542032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Doc understanding · Exception classifier · Route deviation · Carrier scorer — all on local Ollama.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0"/>
          <p:cNvCxnSpPr/>
          <p:nvPr/>
        </p:nvCxnSpPr>
        <p:spPr>
          <a:xfrm>
            <a:off x="777240" y="2871216"/>
            <a:ext cx="9000" cy="21030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0"/>
          <p:cNvSpPr txBox="1"/>
          <p:nvPr/>
        </p:nvSpPr>
        <p:spPr>
          <a:xfrm>
            <a:off x="694944" y="2953512"/>
            <a:ext cx="164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941832" y="2871216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760"/>
              <a:buFont typeface="Inter"/>
              <a:buNone/>
            </a:pPr>
            <a:r>
              <a:rPr b="0" i="1" lang="en-US" sz="76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Decision router — human-in-the-loop, the EU AI Act compliance gate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7200" y="3127248"/>
            <a:ext cx="5212200" cy="658500"/>
          </a:xfrm>
          <a:prstGeom prst="roundRect">
            <a:avLst>
              <a:gd fmla="val 11111" name="adj"/>
            </a:avLst>
          </a:prstGeom>
          <a:solidFill>
            <a:srgbClr val="0E3A4A"/>
          </a:solidFill>
          <a:ln cap="flat" cmpd="sng" w="158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 txBox="1"/>
          <p:nvPr/>
        </p:nvSpPr>
        <p:spPr>
          <a:xfrm>
            <a:off x="685800" y="3209544"/>
            <a:ext cx="4755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ontserrat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Action &amp; Data — Where It Lands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685800" y="3456432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820"/>
              <a:buFont typeface="Inter"/>
              <a:buNone/>
            </a:pPr>
            <a:r>
              <a:rPr b="0" i="0" lang="en-US" sz="82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WhatsApp + dispatcher alerts · Sheets updated live · SAP </a:t>
            </a:r>
            <a:r>
              <a:rPr lang="en-US" sz="820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updated</a:t>
            </a:r>
            <a:r>
              <a:rPr b="0" i="0" lang="en-US" sz="82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 · history in PostgreSQL.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5925312" y="1298448"/>
            <a:ext cx="2761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GPS INTEGRATION — PICK 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5925312" y="1572768"/>
            <a:ext cx="276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Webfleet (TomTom)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5925312" y="1746504"/>
            <a:ext cx="276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Best fit ES/PT — ~€300–500/mo, 20–30 key vehicles.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5925312" y="2048256"/>
            <a:ext cx="276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Teltonika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5925312" y="2221992"/>
            <a:ext cx="276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Cheapest hardware — best long-term cost control.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5925312" y="2523744"/>
            <a:ext cx="276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HERE Routing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5925312" y="2697480"/>
            <a:ext cx="276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Free tier covers route-baseline calc.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925312" y="3054096"/>
            <a:ext cx="2761500" cy="731400"/>
          </a:xfrm>
          <a:prstGeom prst="roundRect">
            <a:avLst>
              <a:gd fmla="val 10000" name="adj"/>
            </a:avLst>
          </a:prstGeom>
          <a:solidFill>
            <a:srgbClr val="132237"/>
          </a:solidFill>
          <a:ln cap="flat" cmpd="sng" w="1587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6071616" y="3163824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Built By AI Consultants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6071616" y="3383280"/>
            <a:ext cx="2469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No SAP consultant, cloud architect or middleware specialist — a two-person AI team builds this in 8–12 weeks.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0"/>
          <p:cNvCxnSpPr/>
          <p:nvPr/>
        </p:nvCxnSpPr>
        <p:spPr>
          <a:xfrm>
            <a:off x="457200" y="438912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0"/>
          <p:cNvSpPr txBox="1"/>
          <p:nvPr/>
        </p:nvSpPr>
        <p:spPr>
          <a:xfrm>
            <a:off x="457200" y="4498848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practice for this budget: </a:t>
            </a:r>
            <a:r>
              <a:rPr b="0" i="0" lang="en-US" sz="8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a lean, self-hosted AI layer around Transiberia's existing SAP rather than a full SAP S/4HANA re-platform — that alone typically runs $1M–$8M+ and over 60% of such projects exceed budget.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304" name="Google Shape;3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457200" y="292608"/>
            <a:ext cx="758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0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How the Transiberia AI System Works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One controlled gateway  →  AI understands  →  Humans decide  →  System records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1"/>
          <p:cNvCxnSpPr/>
          <p:nvPr/>
        </p:nvCxnSpPr>
        <p:spPr>
          <a:xfrm>
            <a:off x="576072" y="1289304"/>
            <a:ext cx="0" cy="3145500"/>
          </a:xfrm>
          <a:prstGeom prst="straightConnector1">
            <a:avLst/>
          </a:prstGeom>
          <a:noFill/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1"/>
          <p:cNvSpPr/>
          <p:nvPr/>
        </p:nvSpPr>
        <p:spPr>
          <a:xfrm>
            <a:off x="457200" y="1124159"/>
            <a:ext cx="237600" cy="237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10" name="Google Shape;310;p11"/>
          <p:cNvSpPr txBox="1"/>
          <p:nvPr/>
        </p:nvSpPr>
        <p:spPr>
          <a:xfrm>
            <a:off x="449489" y="1127577"/>
            <a:ext cx="237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804675" y="1127575"/>
            <a:ext cx="7223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Information arrives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1389888"/>
            <a:ext cx="1975200" cy="567000"/>
          </a:xfrm>
          <a:prstGeom prst="roundRect">
            <a:avLst>
              <a:gd fmla="val 8065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566928" y="1444752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Orders &amp; shipment requests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566928" y="1719072"/>
            <a:ext cx="1755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from your ERP system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542032" y="1389888"/>
            <a:ext cx="1975200" cy="567000"/>
          </a:xfrm>
          <a:prstGeom prst="roundRect">
            <a:avLst>
              <a:gd fmla="val 8065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2651760" y="1444752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Carrier updates &amp; messages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2651760" y="1719072"/>
            <a:ext cx="1755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via WhatsApp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626864" y="1389888"/>
            <a:ext cx="1975200" cy="567000"/>
          </a:xfrm>
          <a:prstGeom prst="roundRect">
            <a:avLst>
              <a:gd fmla="val 8065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4736592" y="1444752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Live vehicle position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4736592" y="1719072"/>
            <a:ext cx="1755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GPS every 5 min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711696" y="1389888"/>
            <a:ext cx="1975200" cy="567000"/>
          </a:xfrm>
          <a:prstGeom prst="roundRect">
            <a:avLst>
              <a:gd fmla="val 8065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6821424" y="1444752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Documents &amp; paperwork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821424" y="1719072"/>
            <a:ext cx="1755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CMR, PoD, rates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57200" y="1983699"/>
            <a:ext cx="237600" cy="237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25" name="Google Shape;325;p11"/>
          <p:cNvSpPr txBox="1"/>
          <p:nvPr/>
        </p:nvSpPr>
        <p:spPr>
          <a:xfrm>
            <a:off x="449489" y="1988418"/>
            <a:ext cx="237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804675" y="1990965"/>
            <a:ext cx="7223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One intelligent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57200" y="2249424"/>
            <a:ext cx="8229600" cy="384000"/>
          </a:xfrm>
          <a:prstGeom prst="roundRect">
            <a:avLst>
              <a:gd fmla="val 14286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676656" y="2249424"/>
            <a:ext cx="779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information enters through one controlled point — </a:t>
            </a:r>
            <a:r>
              <a:rPr b="0" i="0" lang="en-US" sz="82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only authorised senders are accepted, and each input is read, understood and routed to the right process.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57200" y="2660358"/>
            <a:ext cx="237600" cy="237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30" name="Google Shape;330;p11"/>
          <p:cNvSpPr txBox="1"/>
          <p:nvPr/>
        </p:nvSpPr>
        <p:spPr>
          <a:xfrm>
            <a:off x="449489" y="2653959"/>
            <a:ext cx="237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804675" y="2670655"/>
            <a:ext cx="7223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AI understands and scores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7200" y="2926080"/>
            <a:ext cx="1975200" cy="640200"/>
          </a:xfrm>
          <a:prstGeom prst="roundRect">
            <a:avLst>
              <a:gd fmla="val 7143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566928" y="2980944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Reads every document &amp; message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566928" y="3255264"/>
            <a:ext cx="175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Extracts route, carrier, status, rate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2542032" y="2926080"/>
            <a:ext cx="1975200" cy="640200"/>
          </a:xfrm>
          <a:prstGeom prst="roundRect">
            <a:avLst>
              <a:gd fmla="val 7143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2651760" y="2980944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Spots problems before they happen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2651760" y="3255264"/>
            <a:ext cx="175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On-track / at-risk / critical — confidence scored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626864" y="2926080"/>
            <a:ext cx="1975200" cy="640200"/>
          </a:xfrm>
          <a:prstGeom prst="roundRect">
            <a:avLst>
              <a:gd fmla="val 7143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 txBox="1"/>
          <p:nvPr/>
        </p:nvSpPr>
        <p:spPr>
          <a:xfrm>
            <a:off x="4736592" y="2980944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Detects route deviations in real time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4736592" y="3255264"/>
            <a:ext cx="175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Compares live position to expected route &amp; schedule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711696" y="2926080"/>
            <a:ext cx="1975200" cy="640200"/>
          </a:xfrm>
          <a:prstGeom prst="roundRect">
            <a:avLst>
              <a:gd fmla="val 7143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6821424" y="2980944"/>
            <a:ext cx="175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Recommends best carrier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6821424" y="3255264"/>
            <a:ext cx="175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Scores carriers on reliability, lane fit, capacity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57200" y="3593050"/>
            <a:ext cx="237600" cy="237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45" name="Google Shape;345;p11"/>
          <p:cNvSpPr txBox="1"/>
          <p:nvPr/>
        </p:nvSpPr>
        <p:spPr>
          <a:xfrm>
            <a:off x="449489" y="3586750"/>
            <a:ext cx="237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804675" y="3607526"/>
            <a:ext cx="7223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Human decides — always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57200" y="3858768"/>
            <a:ext cx="4023300" cy="384000"/>
          </a:xfrm>
          <a:prstGeom prst="roundRect">
            <a:avLst>
              <a:gd fmla="val 14286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 txBox="1"/>
          <p:nvPr/>
        </p:nvSpPr>
        <p:spPr>
          <a:xfrm>
            <a:off x="640080" y="385876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Clear situation → </a:t>
            </a:r>
            <a:r>
              <a:rPr b="0" i="0" lang="en-US" sz="820" u="none" cap="none" strike="noStrike">
                <a:solidFill>
                  <a:srgbClr val="0A6A80"/>
                </a:solidFill>
                <a:latin typeface="Inter"/>
                <a:ea typeface="Inter"/>
                <a:cs typeface="Inter"/>
                <a:sym typeface="Inter"/>
              </a:rPr>
              <a:t>system acts automatically, dispatcher notified.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663440" y="3858768"/>
            <a:ext cx="4023300" cy="384000"/>
          </a:xfrm>
          <a:prstGeom prst="roundRect">
            <a:avLst>
              <a:gd fmla="val 14286" name="adj"/>
            </a:avLst>
          </a:prstGeom>
          <a:solidFill>
            <a:srgbClr val="FDF1E4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 txBox="1"/>
          <p:nvPr/>
        </p:nvSpPr>
        <p:spPr>
          <a:xfrm>
            <a:off x="4846320" y="385876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20"/>
              <a:buFont typeface="Inter"/>
              <a:buNone/>
            </a:pPr>
            <a:r>
              <a:rPr b="1" i="0" lang="en-US" sz="82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Ambiguous or high risk → </a:t>
            </a:r>
            <a:r>
              <a:rPr b="0" i="0" lang="en-US" sz="82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dispatcher gets a full AI summary and makes the call.</a:t>
            </a:r>
            <a:endParaRPr b="0" i="0" sz="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57200" y="4269709"/>
            <a:ext cx="237600" cy="237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52" name="Google Shape;352;p11"/>
          <p:cNvSpPr txBox="1"/>
          <p:nvPr/>
        </p:nvSpPr>
        <p:spPr>
          <a:xfrm>
            <a:off x="449489" y="4267715"/>
            <a:ext cx="2376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804675" y="4287216"/>
            <a:ext cx="7223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Everything is recorded and the system gets smarter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57200" y="4535424"/>
            <a:ext cx="26517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566928" y="4590288"/>
            <a:ext cx="243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Live operations view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566928" y="4864608"/>
            <a:ext cx="24324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Every load, status &amp; exception — one screen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3246120" y="4535424"/>
            <a:ext cx="26517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3355848" y="4590288"/>
            <a:ext cx="243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Full history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3355848" y="4864608"/>
            <a:ext cx="24324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Every decision &amp; outcome feeds back to improve the AI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035040" y="4535424"/>
            <a:ext cx="26517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6144768" y="4590288"/>
            <a:ext cx="243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60"/>
              <a:buFont typeface="Montserrat"/>
              <a:buNone/>
            </a:pPr>
            <a:r>
              <a:rPr b="1" i="0" lang="en-US" sz="86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Your existing ERP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6144768" y="4864608"/>
            <a:ext cx="24324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690"/>
              <a:buFont typeface="Inter"/>
              <a:buNone/>
            </a:pPr>
            <a:r>
              <a:rPr b="0" i="1" lang="en-US" sz="69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Stays as-is — rates, orders, invoices unchanged</a:t>
            </a:r>
            <a:endParaRPr b="0" i="0" sz="6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368" name="Google Shape;3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2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457200" y="292608"/>
            <a:ext cx="758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How a Load Moves Through the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Three scenarios run in parallel — one system, one shared record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22960" y="1152144"/>
            <a:ext cx="2529900" cy="347400"/>
          </a:xfrm>
          <a:prstGeom prst="roundRect">
            <a:avLst>
              <a:gd fmla="val 15789" name="adj"/>
            </a:avLst>
          </a:prstGeom>
          <a:solidFill>
            <a:srgbClr val="1322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950976" y="1179576"/>
            <a:ext cx="227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Shipment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950976" y="1353312"/>
            <a:ext cx="2273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1DA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C7D1DA"/>
                </a:solidFill>
                <a:latin typeface="Inter"/>
                <a:ea typeface="Inter"/>
                <a:cs typeface="Inter"/>
                <a:sym typeface="Inter"/>
              </a:rPr>
              <a:t>Order comes in, carrier needs to be assigned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3489960" y="1152144"/>
            <a:ext cx="2529900" cy="347400"/>
          </a:xfrm>
          <a:prstGeom prst="roundRect">
            <a:avLst>
              <a:gd fmla="val 15789" name="adj"/>
            </a:avLst>
          </a:prstGeom>
          <a:solidFill>
            <a:srgbClr val="0E3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 txBox="1"/>
          <p:nvPr/>
        </p:nvSpPr>
        <p:spPr>
          <a:xfrm>
            <a:off x="3617976" y="1179576"/>
            <a:ext cx="227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Load in Transit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3617976" y="1353312"/>
            <a:ext cx="2273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E3EC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BFE3EC"/>
                </a:solidFill>
                <a:latin typeface="Inter"/>
                <a:ea typeface="Inter"/>
                <a:cs typeface="Inter"/>
                <a:sym typeface="Inter"/>
              </a:rPr>
              <a:t>Carrier sends updates, GPS tracks position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6156960" y="1152144"/>
            <a:ext cx="2529900" cy="347400"/>
          </a:xfrm>
          <a:prstGeom prst="roundRect">
            <a:avLst>
              <a:gd fmla="val 15789" name="adj"/>
            </a:avLst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 txBox="1"/>
          <p:nvPr/>
        </p:nvSpPr>
        <p:spPr>
          <a:xfrm>
            <a:off x="6284976" y="1179576"/>
            <a:ext cx="2273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Exception Occurs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6284976" y="1353312"/>
            <a:ext cx="2273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DCC0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F6DCC0"/>
                </a:solidFill>
                <a:latin typeface="Inter"/>
                <a:ea typeface="Inter"/>
                <a:cs typeface="Inter"/>
                <a:sym typeface="Inter"/>
              </a:rPr>
              <a:t>Something goes wrong — or might go wrong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493776" y="1673352"/>
            <a:ext cx="219600" cy="219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 txBox="1"/>
          <p:nvPr/>
        </p:nvSpPr>
        <p:spPr>
          <a:xfrm>
            <a:off x="493776" y="166878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ontserra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822960" y="155448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 txBox="1"/>
          <p:nvPr/>
        </p:nvSpPr>
        <p:spPr>
          <a:xfrm>
            <a:off x="932688" y="160020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Order arrives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932688" y="178308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From ERP system — route, cargo, deadline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3489960" y="155448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3599688" y="160020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Carrier sends update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3599688" y="178308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Via WhatsApp — plain language, any format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6156960" y="155448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DF1E4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 txBox="1"/>
          <p:nvPr/>
        </p:nvSpPr>
        <p:spPr>
          <a:xfrm>
            <a:off x="6266688" y="160020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Problem detected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6266688" y="178308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GPS off route, carrier silent, or AI flags risk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93776" y="2176272"/>
            <a:ext cx="219600" cy="219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 txBox="1"/>
          <p:nvPr/>
        </p:nvSpPr>
        <p:spPr>
          <a:xfrm>
            <a:off x="493776" y="217170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ontserra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822960" y="205740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932688" y="210312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Route is calculated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932688" y="228600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Expected path, distance &amp; time set automatically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3489960" y="205740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 txBox="1"/>
          <p:nvPr/>
        </p:nvSpPr>
        <p:spPr>
          <a:xfrm>
            <a:off x="3599688" y="210312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AI reads the message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3599688" y="228600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Extracts status, location, issues — no manual entry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6156960" y="205740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DF1E4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 txBox="1"/>
          <p:nvPr/>
        </p:nvSpPr>
        <p:spPr>
          <a:xfrm>
            <a:off x="6266688" y="210312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AI assesses severity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6266688" y="228600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Classifies: minor / significant / critical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93776" y="2679192"/>
            <a:ext cx="219600" cy="219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 txBox="1"/>
          <p:nvPr/>
        </p:nvSpPr>
        <p:spPr>
          <a:xfrm>
            <a:off x="493776" y="267462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ontserra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822960" y="256032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 txBox="1"/>
          <p:nvPr/>
        </p:nvSpPr>
        <p:spPr>
          <a:xfrm>
            <a:off x="932688" y="260604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AI scores all carriers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932688" y="278892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Ranked by past performance on this route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3489960" y="256032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3599688" y="260604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Position is checked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3599688" y="278892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Live GPS vs. expected route &amp; schedule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6156960" y="256032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DF1E4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6266688" y="260604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Dispatcher alerted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6266688" y="278892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Full summary sent — what happened, confidence, options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93776" y="3182112"/>
            <a:ext cx="219600" cy="219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493776" y="317754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ontserra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822960" y="306324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932688" y="310896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Dispatcher confirms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932688" y="329184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Reviews top recommendations, makes the call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3489960" y="306324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 txBox="1"/>
          <p:nvPr/>
        </p:nvSpPr>
        <p:spPr>
          <a:xfrm>
            <a:off x="3599688" y="310896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Status is assessed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3599688" y="329184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On track, delayed, or needs attention — scored automatically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6156960" y="306324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DF1E4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6266688" y="310896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Decision made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6266688" y="329184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Dispatcher acts — reroute, backup carrier, notify client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93776" y="3685032"/>
            <a:ext cx="219600" cy="2196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493776" y="368046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ontserra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822960" y="356616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4F6F9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 txBox="1"/>
          <p:nvPr/>
        </p:nvSpPr>
        <p:spPr>
          <a:xfrm>
            <a:off x="932688" y="361188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Carrier is booked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932688" y="379476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Confirmation sent automatically; record created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3489960" y="356616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E3F7FB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 txBox="1"/>
          <p:nvPr/>
        </p:nvSpPr>
        <p:spPr>
          <a:xfrm>
            <a:off x="3599688" y="361188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6A80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Record updated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3599688" y="379476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Ops dashboard reflects reality in real time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156960" y="3566160"/>
            <a:ext cx="2529900" cy="457200"/>
          </a:xfrm>
          <a:prstGeom prst="roundRect">
            <a:avLst>
              <a:gd fmla="val 10000" name="adj"/>
            </a:avLst>
          </a:prstGeom>
          <a:solidFill>
            <a:srgbClr val="FDF1E4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 txBox="1"/>
          <p:nvPr/>
        </p:nvSpPr>
        <p:spPr>
          <a:xfrm>
            <a:off x="6266688" y="3611880"/>
            <a:ext cx="231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30"/>
              <a:buFont typeface="Montserrat"/>
              <a:buNone/>
            </a:pPr>
            <a:r>
              <a:rPr b="1" i="0" lang="en-US" sz="830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Outcome recorded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6266688" y="3794760"/>
            <a:ext cx="2310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680"/>
              <a:buFont typeface="Inter"/>
              <a:buNone/>
            </a:pPr>
            <a:r>
              <a:rPr b="0" i="1" lang="en-US" sz="68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Added to carrier history; improves future predictions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57200" y="4078224"/>
            <a:ext cx="8229600" cy="219600"/>
          </a:xfrm>
          <a:prstGeom prst="roundRect">
            <a:avLst>
              <a:gd fmla="val 20833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 txBox="1"/>
          <p:nvPr/>
        </p:nvSpPr>
        <p:spPr>
          <a:xfrm>
            <a:off x="640080" y="4078224"/>
            <a:ext cx="7863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Inter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three scenarios end the same way — </a:t>
            </a:r>
            <a:r>
              <a:rPr b="0" i="0" lang="en-US" sz="78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record updated, carrier history improved, system learns.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57200" y="4370832"/>
            <a:ext cx="2651700" cy="685800"/>
          </a:xfrm>
          <a:prstGeom prst="roundRect">
            <a:avLst>
              <a:gd fmla="val 8000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457200" y="4443984"/>
            <a:ext cx="41100" cy="539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 txBox="1"/>
          <p:nvPr/>
        </p:nvSpPr>
        <p:spPr>
          <a:xfrm>
            <a:off x="621792" y="4462272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Zero manual data entry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621792" y="4681728"/>
            <a:ext cx="2322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Messages, documents and GPS feed in automatically</a:t>
            </a:r>
            <a:r>
              <a:rPr lang="en-US" sz="7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; </a:t>
            </a:r>
            <a:r>
              <a:rPr b="0" i="0" lang="en-US" sz="7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team reads summaries, not raw data.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3246120" y="4370832"/>
            <a:ext cx="2651700" cy="685800"/>
          </a:xfrm>
          <a:prstGeom prst="roundRect">
            <a:avLst>
              <a:gd fmla="val 8000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3246120" y="4443984"/>
            <a:ext cx="41100" cy="539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 txBox="1"/>
          <p:nvPr/>
        </p:nvSpPr>
        <p:spPr>
          <a:xfrm>
            <a:off x="3410712" y="4462272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No surprise exceptions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3410712" y="4681728"/>
            <a:ext cx="2322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Patterns are spotted before they become problems</a:t>
            </a:r>
            <a:r>
              <a:rPr lang="en-US" sz="7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  <a:r>
              <a:rPr b="0" i="0" lang="en-US" sz="7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earlier warning means cheaper fixes.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6035040" y="4370832"/>
            <a:ext cx="2651700" cy="685800"/>
          </a:xfrm>
          <a:prstGeom prst="roundRect">
            <a:avLst>
              <a:gd fmla="val 8000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6035040" y="4443984"/>
            <a:ext cx="41100" cy="539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6199632" y="4462272"/>
            <a:ext cx="232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Gets better over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6199632" y="4681728"/>
            <a:ext cx="2322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Every load, rating and route outcome feeds back in</a:t>
            </a:r>
            <a:r>
              <a:rPr lang="en-US" sz="7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0" i="0" lang="en-US" sz="7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predictions improve automatically.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455" name="Google Shape;4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Strategic Scope — Out of Scope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Deliberate boundaries keep the build lean — AI processing is part of the Core, not an add-on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457200" y="120700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To ensure targeted impact, this proposal explicitly excludes certain technologies.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457200" y="1890423"/>
            <a:ext cx="1920300" cy="2331600"/>
          </a:xfrm>
          <a:prstGeom prst="roundRect">
            <a:avLst>
              <a:gd fmla="val 285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457200" y="1963575"/>
            <a:ext cx="41100" cy="2185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640080" y="2073303"/>
            <a:ext cx="914400" cy="2559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640080" y="2073303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EXCLUDED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640080" y="2439063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No Fleet Telematics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640080" y="2987703"/>
            <a:ext cx="1554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Because Transiberia functions strictly as a freight coordinator without an active fleet, we are omitting fleet telematics.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2560320" y="1890423"/>
            <a:ext cx="1920300" cy="2331600"/>
          </a:xfrm>
          <a:prstGeom prst="roundRect">
            <a:avLst>
              <a:gd fmla="val 285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2560320" y="1963575"/>
            <a:ext cx="41100" cy="2185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2743200" y="2073303"/>
            <a:ext cx="914400" cy="2559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 txBox="1"/>
          <p:nvPr/>
        </p:nvSpPr>
        <p:spPr>
          <a:xfrm>
            <a:off x="2743200" y="2073303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EXCLUDED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 txBox="1"/>
          <p:nvPr/>
        </p:nvSpPr>
        <p:spPr>
          <a:xfrm>
            <a:off x="2743200" y="2439063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lang="en-US" sz="1300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n8n Maintenance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 txBox="1"/>
          <p:nvPr/>
        </p:nvSpPr>
        <p:spPr>
          <a:xfrm>
            <a:off x="2743200" y="2987700"/>
            <a:ext cx="1660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We are not responsible for ongoing maintenance, data integrity or future retraining. As the solution is on-premise, your team gains and retains full control as business needs evolve.</a:t>
            </a:r>
            <a:endParaRPr sz="950">
              <a:solidFill>
                <a:srgbClr val="494E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663440" y="1890423"/>
            <a:ext cx="1920300" cy="2331600"/>
          </a:xfrm>
          <a:prstGeom prst="roundRect">
            <a:avLst>
              <a:gd fmla="val 285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4663440" y="1963575"/>
            <a:ext cx="41100" cy="2185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4846320" y="2073303"/>
            <a:ext cx="914400" cy="2559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 txBox="1"/>
          <p:nvPr/>
        </p:nvSpPr>
        <p:spPr>
          <a:xfrm>
            <a:off x="4846320" y="2073303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EXCLUDED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4846320" y="2439063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No Pricing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4846320" y="2987703"/>
            <a:ext cx="1554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We are intentionally postponing predictive pricing automation to focus entirely on proactive exception management.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6766560" y="1890423"/>
            <a:ext cx="1920300" cy="2331600"/>
          </a:xfrm>
          <a:prstGeom prst="roundRect">
            <a:avLst>
              <a:gd fmla="val 2857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6766560" y="1963575"/>
            <a:ext cx="41100" cy="2185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6949440" y="2073303"/>
            <a:ext cx="914400" cy="2559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 txBox="1"/>
          <p:nvPr/>
        </p:nvSpPr>
        <p:spPr>
          <a:xfrm>
            <a:off x="6949440" y="2073303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EXCLUDED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 txBox="1"/>
          <p:nvPr/>
        </p:nvSpPr>
        <p:spPr>
          <a:xfrm>
            <a:off x="6949440" y="2439063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No Custom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 txBox="1"/>
          <p:nvPr/>
        </p:nvSpPr>
        <p:spPr>
          <a:xfrm>
            <a:off x="6949440" y="2987703"/>
            <a:ext cx="1554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We integrate an existing GPS provider rather than building a custom tracking app from scratch.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489" name="Google Shape;4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4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Roadmap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~20 weeks end-to-end, five phases — AI is built in from Phase 2</a:t>
            </a:r>
            <a:r>
              <a:rPr b="1" i="0" lang="en-US" sz="1300" u="none" cap="none" strike="sng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, not bolted on later</a:t>
            </a:r>
            <a:endParaRPr b="0" i="0" sz="130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14"/>
          <p:cNvCxnSpPr/>
          <p:nvPr/>
        </p:nvCxnSpPr>
        <p:spPr>
          <a:xfrm>
            <a:off x="1280160" y="1691640"/>
            <a:ext cx="6583800" cy="0"/>
          </a:xfrm>
          <a:prstGeom prst="straightConnector1">
            <a:avLst/>
          </a:prstGeom>
          <a:noFill/>
          <a:ln cap="flat" cmpd="sng" w="1905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14"/>
          <p:cNvSpPr/>
          <p:nvPr/>
        </p:nvSpPr>
        <p:spPr>
          <a:xfrm>
            <a:off x="1106424" y="1517904"/>
            <a:ext cx="347400" cy="347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 txBox="1"/>
          <p:nvPr/>
        </p:nvSpPr>
        <p:spPr>
          <a:xfrm>
            <a:off x="1106424" y="15179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548640" y="1965960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WKS 1–4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548640" y="2185416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80"/>
              <a:buFont typeface="Montserrat"/>
              <a:buNone/>
            </a:pPr>
            <a:r>
              <a:rPr b="1" i="0" lang="en-US" sz="118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Discovery &amp; Assessment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 txBox="1"/>
          <p:nvPr/>
        </p:nvSpPr>
        <p:spPr>
          <a:xfrm>
            <a:off x="548640" y="2660904"/>
            <a:ext cx="1463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Process audit</a:t>
            </a:r>
            <a:r>
              <a:rPr lang="en-US" sz="86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SAP verified email flow, WhatsApp, exception handling. Technical assessment</a:t>
            </a:r>
            <a:r>
              <a:rPr lang="en-US" sz="86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includes </a:t>
            </a: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SAP config, GPS choice, </a:t>
            </a: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VPS</a:t>
            </a:r>
            <a:r>
              <a:rPr lang="en-US" sz="86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infrastructure &amp; sizing. Final architecture design.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2752344" y="1517904"/>
            <a:ext cx="347400" cy="3474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 txBox="1"/>
          <p:nvPr/>
        </p:nvSpPr>
        <p:spPr>
          <a:xfrm>
            <a:off x="2752344" y="15179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2194560" y="1965960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WKS 5–16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 txBox="1"/>
          <p:nvPr/>
        </p:nvSpPr>
        <p:spPr>
          <a:xfrm>
            <a:off x="2194560" y="2185416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80"/>
              <a:buFont typeface="Montserrat"/>
              <a:buNone/>
            </a:pPr>
            <a:r>
              <a:rPr b="1" i="0" lang="en-US" sz="118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&amp; AI Nodes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 txBox="1"/>
          <p:nvPr/>
        </p:nvSpPr>
        <p:spPr>
          <a:xfrm>
            <a:off x="2194560" y="2660904"/>
            <a:ext cx="1463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Core build: server, SAP email integration, WhatsApp API, GPS webhook, routing API, dashboard</a:t>
            </a:r>
            <a:r>
              <a:rPr lang="en-US" sz="86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AI nodes (doc extraction, exception classifier, route deviation, carrier scorer) built in parallel from Wk 9.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4398264" y="1517904"/>
            <a:ext cx="347400" cy="3474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 txBox="1"/>
          <p:nvPr/>
        </p:nvSpPr>
        <p:spPr>
          <a:xfrm>
            <a:off x="4398264" y="15179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3840480" y="1965960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WKS 17–18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 txBox="1"/>
          <p:nvPr/>
        </p:nvSpPr>
        <p:spPr>
          <a:xfrm>
            <a:off x="3840480" y="2185416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80"/>
              <a:buFont typeface="Montserrat"/>
              <a:buNone/>
            </a:pPr>
            <a:r>
              <a:rPr b="1" i="0" lang="en-US" sz="118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Testing &amp; Pilot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3840480" y="2660904"/>
            <a:ext cx="1463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End-to-end testing on real loads with a pilot group of carriers and dispatchers; issues fixed before wider rollout.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044184" y="1517904"/>
            <a:ext cx="347400" cy="3474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6044184" y="15179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5486400" y="1965960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WK 19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5486400" y="2185416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80"/>
              <a:buFont typeface="Montserrat"/>
              <a:buNone/>
            </a:pPr>
            <a:r>
              <a:rPr b="1" i="0" lang="en-US" sz="118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Full Rollout &amp; Training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5486400" y="2660904"/>
            <a:ext cx="1463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Live for all carriers and loads; ops team trained on the live dashboard and the exception workflow.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7690104" y="1517904"/>
            <a:ext cx="347400" cy="3474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 txBox="1"/>
          <p:nvPr/>
        </p:nvSpPr>
        <p:spPr>
          <a:xfrm>
            <a:off x="7690104" y="15179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 txBox="1"/>
          <p:nvPr/>
        </p:nvSpPr>
        <p:spPr>
          <a:xfrm>
            <a:off x="7132320" y="1965960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WK 20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7132320" y="2185416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80"/>
              <a:buFont typeface="Montserrat"/>
              <a:buNone/>
            </a:pPr>
            <a:r>
              <a:rPr b="1" i="0" lang="en-US" sz="118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Handover &amp; Maintenance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7132320" y="2660904"/>
            <a:ext cx="1463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860"/>
              <a:buFont typeface="Inter"/>
              <a:buNone/>
            </a:pP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Technical runbook handed to a dedicated maintenance engineer for day-to-day upkeep</a:t>
            </a:r>
            <a:r>
              <a:rPr lang="en-US" sz="86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0" i="0" lang="en-US" sz="8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SilverTrust does not run ongoing n8n flow maintenance.</a:t>
            </a:r>
            <a:endParaRPr b="0" i="0" sz="8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57200" y="4434840"/>
            <a:ext cx="8229600" cy="502800"/>
          </a:xfrm>
          <a:prstGeom prst="roundRect">
            <a:avLst>
              <a:gd fmla="val 10909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457200" y="4507992"/>
            <a:ext cx="41100" cy="356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 txBox="1"/>
          <p:nvPr/>
        </p:nvSpPr>
        <p:spPr>
          <a:xfrm>
            <a:off x="731520" y="443484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20 weeks total — 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AI nodes are built in parallel within Phase 2, and a dedicated maintenance engineer (needs to be hired in case it does not exist from the beginning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takes over day-to-day upkeep at handover, not SilverTrust.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527" name="Google Shape;5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5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Savings &amp; Growth Outlook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Cost control first — the real, all-in opportunity behind the investment ahead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457200" y="1519762"/>
            <a:ext cx="2590800" cy="2788800"/>
          </a:xfrm>
          <a:prstGeom prst="roundRect">
            <a:avLst>
              <a:gd fmla="val 2118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457200" y="1592914"/>
            <a:ext cx="41100" cy="264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 txBox="1"/>
          <p:nvPr/>
        </p:nvSpPr>
        <p:spPr>
          <a:xfrm>
            <a:off x="658368" y="1702642"/>
            <a:ext cx="2225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IMMEDIATE SAVINGS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640080" y="1995250"/>
            <a:ext cx="222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~€2.08M/yr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 txBox="1"/>
          <p:nvPr/>
        </p:nvSpPr>
        <p:spPr>
          <a:xfrm>
            <a:off x="658368" y="2598754"/>
            <a:ext cx="222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70"/>
              <a:buFont typeface="Inter"/>
              <a:buNone/>
            </a:pPr>
            <a:r>
              <a:rPr b="1" i="0" lang="en-US" sz="87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ANNUAL SAVINGS AT TODAY'S VOLUME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658368" y="3001090"/>
            <a:ext cx="218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Cutting processing cost from €80 to €40 per load saves €2.08M a year at today's volume — before the 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very small) build cost is netted out (see Real Net Opportunity, right).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3276600" y="1519762"/>
            <a:ext cx="2590800" cy="2788800"/>
          </a:xfrm>
          <a:prstGeom prst="roundRect">
            <a:avLst>
              <a:gd fmla="val 2118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3276600" y="1592914"/>
            <a:ext cx="41100" cy="264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 txBox="1"/>
          <p:nvPr/>
        </p:nvSpPr>
        <p:spPr>
          <a:xfrm>
            <a:off x="3477768" y="1702642"/>
            <a:ext cx="2225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REAL NET OPPORTUNITY — YEAR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 txBox="1"/>
          <p:nvPr/>
        </p:nvSpPr>
        <p:spPr>
          <a:xfrm>
            <a:off x="3459480" y="1995250"/>
            <a:ext cx="222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b="1"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1.93M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 txBox="1"/>
          <p:nvPr/>
        </p:nvSpPr>
        <p:spPr>
          <a:xfrm>
            <a:off x="3477768" y="2598754"/>
            <a:ext cx="222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870"/>
              <a:buFont typeface="Inter"/>
              <a:buNone/>
            </a:pPr>
            <a:r>
              <a:rPr b="1" i="0" lang="en-US" sz="87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NET OF THE ENTIRE N8N BUILD &amp; RUNNING COSTS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3477768" y="3001090"/>
            <a:ext cx="218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3E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This is what's left after the full n8n build (€40–46K), running costs (€9-13k) and </a:t>
            </a:r>
            <a:r>
              <a:rPr lang="en-US" sz="950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a forward deployed engineer (€88-95k)</a:t>
            </a:r>
            <a:r>
              <a:rPr b="0" i="0" lang="en-US" sz="9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 — total investment €</a:t>
            </a:r>
            <a:r>
              <a:rPr lang="en-US" sz="950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143-154</a:t>
            </a:r>
            <a:r>
              <a:rPr b="0" i="0" lang="en-US" sz="9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K. </a:t>
            </a:r>
            <a:r>
              <a:rPr b="0" i="0" lang="en-US" sz="9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Payback in under </a:t>
            </a:r>
            <a:r>
              <a:rPr lang="en-US" sz="950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a month</a:t>
            </a:r>
            <a:r>
              <a:rPr b="0" i="0" lang="en-US" sz="95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. Full breakdown in the n8n Cost Breakdown.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6096000" y="1519762"/>
            <a:ext cx="2590800" cy="2788800"/>
          </a:xfrm>
          <a:prstGeom prst="roundRect">
            <a:avLst>
              <a:gd fmla="val 2118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6096000" y="1592914"/>
            <a:ext cx="41100" cy="26427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 txBox="1"/>
          <p:nvPr/>
        </p:nvSpPr>
        <p:spPr>
          <a:xfrm>
            <a:off x="6297168" y="1702642"/>
            <a:ext cx="2225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SEQUENCING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6278880" y="1995250"/>
            <a:ext cx="222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Lean Build → Scale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 txBox="1"/>
          <p:nvPr/>
        </p:nvSpPr>
        <p:spPr>
          <a:xfrm>
            <a:off x="6297168" y="2598754"/>
            <a:ext cx="222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70"/>
              <a:buFont typeface="Inter"/>
              <a:buNone/>
            </a:pPr>
            <a:r>
              <a:rPr b="1" i="0" lang="en-US" sz="87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AI-NATIVE FROM DAY ONE</a:t>
            </a:r>
            <a:endParaRPr b="0" i="0" sz="870" u="none" cap="none" strike="sng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 txBox="1"/>
          <p:nvPr/>
        </p:nvSpPr>
        <p:spPr>
          <a:xfrm>
            <a:off x="6297168" y="3001090"/>
            <a:ext cx="218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AI processing is part of the Core build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b="1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it pays for itself in under</a:t>
            </a:r>
            <a:r>
              <a:rPr b="1"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a month</a:t>
            </a:r>
            <a:r>
              <a:rPr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 freeing budget and headcount to fund the +25–40% growth target from day one.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554" name="Google Shape;5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6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Investment &amp; Cost Estimate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 lean n8n build — well under your €500K budget, AI included in the 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8" name="Google Shape;558;p16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{C0637DDD-FCB9-4914-93A0-70C2B95D4AB3}</a:tableStyleId>
              </a:tblPr>
              <a:tblGrid>
                <a:gridCol w="3931925"/>
                <a:gridCol w="1188725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3878E"/>
                        </a:buClr>
                        <a:buSzPts val="860"/>
                        <a:buFont typeface="Inter"/>
                        <a:buNone/>
                      </a:pPr>
                      <a:r>
                        <a:rPr b="1" lang="en-US" sz="86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0 — Discovery &amp; Assessment (Wks 1–4)</a:t>
                      </a:r>
                      <a:endParaRPr sz="86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2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3878E"/>
                        </a:buClr>
                        <a:buSzPts val="860"/>
                        <a:buFont typeface="Inter"/>
                        <a:buNone/>
                      </a:pPr>
                      <a:r>
                        <a:rPr b="1" lang="en-US" sz="86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 sz="86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23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 audit, technical assessment, architecture design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€6,800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3878E"/>
                        </a:buClr>
                        <a:buSzPts val="860"/>
                        <a:buFont typeface="Inter"/>
                        <a:buNone/>
                      </a:pPr>
                      <a:r>
                        <a:rPr b="1" lang="en-US" sz="86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 — Infrastructure &amp; Integrations (Wks 5–12)</a:t>
                      </a:r>
                      <a:endParaRPr b="1" sz="86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2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60"/>
                        <a:buFont typeface="Calibri"/>
                        <a:buNone/>
                      </a:pPr>
                      <a:r>
                        <a:t/>
                      </a:r>
                      <a:endParaRPr b="1" sz="86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23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Server, SAP email, WhatsApp, GPS, HERE routing, Sheets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€10,500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3878E"/>
                        </a:buClr>
                        <a:buSzPts val="860"/>
                        <a:buFont typeface="Inter"/>
                        <a:buNone/>
                      </a:pPr>
                      <a:r>
                        <a:rPr b="1" lang="en-US" sz="86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 — AI Nodes (Wks 9–16, parallel)</a:t>
                      </a:r>
                      <a:endParaRPr sz="86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60"/>
                        <a:buFont typeface="Calibri"/>
                        <a:buNone/>
                      </a:pPr>
                      <a:r>
                        <a:t/>
                      </a:r>
                      <a:endParaRPr sz="86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92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 extraction, exception classifier, deviation, scorer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€11,750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3878E"/>
                        </a:buClr>
                        <a:buSzPts val="860"/>
                        <a:buFont typeface="Inter"/>
                        <a:buNone/>
                      </a:pPr>
                      <a:r>
                        <a:rPr b="1" lang="en-US" sz="86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3 — Testing, Pilot &amp; Handover (Wks 17–20)</a:t>
                      </a:r>
                      <a:endParaRPr sz="86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60"/>
                        <a:buFont typeface="Calibri"/>
                        <a:buNone/>
                      </a:pPr>
                      <a:r>
                        <a:t/>
                      </a:r>
                      <a:endParaRPr sz="86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92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End-to-end testing, ops training, handover, PM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lang="en-US" sz="930" u="none" cap="none" strike="noStrike">
                          <a:solidFill>
                            <a:srgbClr val="1A202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€11,350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b="1" lang="en-US" sz="93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BUILD TOTAL (consulting, before contingency)</a:t>
                      </a:r>
                      <a:endParaRPr sz="93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02C"/>
                        </a:buClr>
                        <a:buSzPts val="930"/>
                        <a:buFont typeface="Inter"/>
                        <a:buNone/>
                      </a:pPr>
                      <a:r>
                        <a:rPr b="1" lang="en-US" sz="93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€40,400</a:t>
                      </a:r>
                      <a:endParaRPr sz="93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587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4D8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A80"/>
                        </a:buClr>
                        <a:buSzPts val="930"/>
                        <a:buFont typeface="Inter"/>
                        <a:buNone/>
                      </a:pPr>
                      <a:r>
                        <a:rPr b="1" lang="en-US" sz="930" u="none" cap="none" strike="noStrike">
                          <a:solidFill>
                            <a:srgbClr val="0A6A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With 15% contingency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6A80"/>
                        </a:buClr>
                        <a:buSzPts val="930"/>
                        <a:buFont typeface="Inter"/>
                        <a:buNone/>
                      </a:pPr>
                      <a:r>
                        <a:rPr b="1" lang="en-US" sz="930" u="none" cap="none" strike="noStrike">
                          <a:solidFill>
                            <a:srgbClr val="0A6A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€46,460</a:t>
                      </a:r>
                      <a:endParaRPr sz="93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BFD"/>
                    </a:solidFill>
                  </a:tcPr>
                </a:tc>
              </a:tr>
            </a:tbl>
          </a:graphicData>
        </a:graphic>
      </p:graphicFrame>
      <p:sp>
        <p:nvSpPr>
          <p:cNvPr id="559" name="Google Shape;559;p16"/>
          <p:cNvSpPr txBox="1"/>
          <p:nvPr/>
        </p:nvSpPr>
        <p:spPr>
          <a:xfrm>
            <a:off x="457200" y="4041648"/>
            <a:ext cx="5120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760"/>
              <a:buFont typeface="Inter"/>
              <a:buNone/>
            </a:pPr>
            <a:r>
              <a:rPr b="0" i="1" lang="en-US" sz="76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*SilverTrust's boutique tier — €400–600/day (vs €700–1,000 mid-market, €1,400–2,000 Big 4/Tier 1). Full 3-tier comparison in the Annex.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5852150" y="1234452"/>
            <a:ext cx="2834700" cy="2002500"/>
          </a:xfrm>
          <a:prstGeom prst="roundRect">
            <a:avLst>
              <a:gd fmla="val 4138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5852151" y="1291058"/>
            <a:ext cx="41100" cy="18369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6"/>
          <p:cNvSpPr txBox="1"/>
          <p:nvPr/>
        </p:nvSpPr>
        <p:spPr>
          <a:xfrm>
            <a:off x="6035040" y="1362456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TECHNICAL SETUP &amp; RUNNING COSTS — CLIENT-SIDE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 txBox="1"/>
          <p:nvPr/>
        </p:nvSpPr>
        <p:spPr>
          <a:xfrm>
            <a:off x="6035040" y="1636776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One-time setup  </a:t>
            </a:r>
            <a:r>
              <a:rPr b="1" i="0" lang="en-US" sz="100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€3,250–4,500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 txBox="1"/>
          <p:nvPr/>
        </p:nvSpPr>
        <p:spPr>
          <a:xfrm>
            <a:off x="6035040" y="1810512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VPS config, Meta WhatsApp verification, GPS hardware (20–30 units)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 txBox="1"/>
          <p:nvPr/>
        </p:nvSpPr>
        <p:spPr>
          <a:xfrm>
            <a:off x="6035040" y="2107444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00"/>
              <a:buFont typeface="Montserrat"/>
              <a:buNone/>
            </a:pPr>
            <a:r>
              <a:rPr b="1" i="0" lang="en-US" sz="10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Monthly recurring  </a:t>
            </a:r>
            <a:r>
              <a:rPr b="1" i="0" lang="en-US" sz="100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€462–700/mo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 txBox="1"/>
          <p:nvPr/>
        </p:nvSpPr>
        <p:spPr>
          <a:xfrm>
            <a:off x="6035040" y="228118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b="0" i="0" lang="en-US" sz="76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VPS hosting, WhatsApp templates, GPS tracking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457200" y="4407408"/>
            <a:ext cx="8229600" cy="621900"/>
          </a:xfrm>
          <a:prstGeom prst="roundRect">
            <a:avLst>
              <a:gd fmla="val 8824" name="adj"/>
            </a:avLst>
          </a:prstGeom>
          <a:solidFill>
            <a:srgbClr val="132237"/>
          </a:solidFill>
          <a:ln cap="flat" cmpd="sng" w="9525">
            <a:solidFill>
              <a:srgbClr val="2437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457200" y="4480560"/>
            <a:ext cx="41100" cy="475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 txBox="1"/>
          <p:nvPr/>
        </p:nvSpPr>
        <p:spPr>
          <a:xfrm>
            <a:off x="685800" y="4407408"/>
            <a:ext cx="777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Inter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Year 1 investment: €</a:t>
            </a:r>
            <a:r>
              <a:rPr b="1" lang="en-US" sz="9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143</a:t>
            </a:r>
            <a:r>
              <a:rPr b="1" i="0" lang="en-US" sz="9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,000–</a:t>
            </a:r>
            <a:r>
              <a:rPr b="1" lang="en-US" sz="9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154</a:t>
            </a:r>
            <a:r>
              <a:rPr b="1" i="0" lang="en-US" sz="9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,000 (build + running costs + forward deployed engineer) → Year 1 net return: ~€</a:t>
            </a:r>
            <a:r>
              <a:rPr b="1" lang="en-US" sz="9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1.93</a:t>
            </a:r>
            <a:r>
              <a:rPr b="1" i="0" lang="en-US" sz="93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M. </a:t>
            </a:r>
            <a:r>
              <a:rPr b="0" i="0" lang="en-US" sz="93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That's more than </a:t>
            </a:r>
            <a:r>
              <a:rPr lang="en-US" sz="930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0" i="0" lang="en-US" sz="93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x back in year one</a:t>
            </a:r>
            <a:r>
              <a:rPr lang="en-US" sz="930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0" i="0" lang="en-US" sz="93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See the n8n </a:t>
            </a:r>
            <a:r>
              <a:rPr b="0" i="0" lang="en-US" sz="93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Cost Breakdown &amp; Consultancy Build Cost annex</a:t>
            </a:r>
            <a:r>
              <a:rPr b="0" i="0" lang="en-US" sz="930" u="none" cap="none" strike="noStrike">
                <a:solidFill>
                  <a:srgbClr val="DCE3EA"/>
                </a:solidFill>
                <a:latin typeface="Inter"/>
                <a:ea typeface="Inter"/>
                <a:cs typeface="Inter"/>
                <a:sym typeface="Inter"/>
              </a:rPr>
              <a:t> for the detailed calculation.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 txBox="1"/>
          <p:nvPr/>
        </p:nvSpPr>
        <p:spPr>
          <a:xfrm>
            <a:off x="6034990" y="2578119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00"/>
              <a:buFont typeface="Montserrat"/>
              <a:buNone/>
            </a:pPr>
            <a:r>
              <a:rPr b="1" lang="en-US" sz="1000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FDE Engineer</a:t>
            </a:r>
            <a:r>
              <a:rPr b="1" i="0" lang="en-US" sz="10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00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€</a:t>
            </a:r>
            <a:r>
              <a:rPr b="1" lang="en-US" sz="1000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88k</a:t>
            </a:r>
            <a:r>
              <a:rPr b="1" i="0" lang="en-US" sz="100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b="1" lang="en-US" sz="1000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95k</a:t>
            </a:r>
            <a:r>
              <a:rPr b="1" i="0" lang="en-US" sz="1000" u="none" cap="none" strike="noStrike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b="1" lang="en-US" sz="1000">
                <a:solidFill>
                  <a:srgbClr val="0A6A80"/>
                </a:solidFill>
                <a:latin typeface="Montserrat"/>
                <a:ea typeface="Montserrat"/>
                <a:cs typeface="Montserrat"/>
                <a:sym typeface="Montserrat"/>
              </a:rPr>
              <a:t>yr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6035000" y="2751848"/>
            <a:ext cx="24690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760"/>
              <a:buFont typeface="Inter"/>
              <a:buNone/>
            </a:pPr>
            <a:r>
              <a:rPr lang="en-US" sz="76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From handover (Wk 20) - ongoing n8n maintenance and future development.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silvertrust/transiberia_v2/asset_silvertrust_badge.png" id="578" name="Google Shape;5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17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F3F6F8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 txBox="1"/>
          <p:nvPr/>
        </p:nvSpPr>
        <p:spPr>
          <a:xfrm>
            <a:off x="457200" y="4572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Strategic Ask &amp; Next Steps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17"/>
          <p:cNvCxnSpPr/>
          <p:nvPr/>
        </p:nvCxnSpPr>
        <p:spPr>
          <a:xfrm>
            <a:off x="1828800" y="233172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17"/>
          <p:cNvSpPr/>
          <p:nvPr/>
        </p:nvSpPr>
        <p:spPr>
          <a:xfrm>
            <a:off x="1627632" y="2130552"/>
            <a:ext cx="402300" cy="4023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"/>
          <p:cNvSpPr txBox="1"/>
          <p:nvPr/>
        </p:nvSpPr>
        <p:spPr>
          <a:xfrm>
            <a:off x="1627632" y="2130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 txBox="1"/>
          <p:nvPr/>
        </p:nvSpPr>
        <p:spPr>
          <a:xfrm>
            <a:off x="457200" y="265176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7"/>
          <p:cNvSpPr txBox="1"/>
          <p:nvPr/>
        </p:nvSpPr>
        <p:spPr>
          <a:xfrm>
            <a:off x="685800" y="2953512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Total Year 1 investment (€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143-154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, incl. the client-side FDE) 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comfortably within the €500K allocation — over €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345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K in headroom to fund the growth target.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4370832" y="2130552"/>
            <a:ext cx="402300" cy="402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 txBox="1"/>
          <p:nvPr/>
        </p:nvSpPr>
        <p:spPr>
          <a:xfrm>
            <a:off x="4370832" y="2130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 txBox="1"/>
          <p:nvPr/>
        </p:nvSpPr>
        <p:spPr>
          <a:xfrm>
            <a:off x="3200400" y="265176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SIGN-OFF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 txBox="1"/>
          <p:nvPr/>
        </p:nvSpPr>
        <p:spPr>
          <a:xfrm>
            <a:off x="3429000" y="2953512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Sign off Phase 0 — discovery &amp; assessment across SAP, WhatsApp, GPS and architecture design (€6,800, 4 weeks).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7114032" y="2130552"/>
            <a:ext cx="402300" cy="4023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 txBox="1"/>
          <p:nvPr/>
        </p:nvSpPr>
        <p:spPr>
          <a:xfrm>
            <a:off x="7114032" y="213055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5943600" y="265176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KICK-OFF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 txBox="1"/>
          <p:nvPr/>
        </p:nvSpPr>
        <p:spPr>
          <a:xfrm>
            <a:off x="6172200" y="2953512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Official Kick-off and a</a:t>
            </a: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ssessment workshops with Marc and operational leads</a:t>
            </a:r>
            <a:r>
              <a:rPr lang="en-US" sz="950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599" name="Google Shape;5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8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SilverTrust — by the numbers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18"/>
          <p:cNvCxnSpPr/>
          <p:nvPr/>
        </p:nvCxnSpPr>
        <p:spPr>
          <a:xfrm>
            <a:off x="1828800" y="173736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18"/>
          <p:cNvSpPr/>
          <p:nvPr/>
        </p:nvSpPr>
        <p:spPr>
          <a:xfrm>
            <a:off x="1645920" y="1554480"/>
            <a:ext cx="365700" cy="3657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8"/>
          <p:cNvSpPr txBox="1"/>
          <p:nvPr/>
        </p:nvSpPr>
        <p:spPr>
          <a:xfrm>
            <a:off x="1645920" y="15544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 txBox="1"/>
          <p:nvPr/>
        </p:nvSpPr>
        <p:spPr>
          <a:xfrm>
            <a:off x="457200" y="202996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9 years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8"/>
          <p:cNvSpPr txBox="1"/>
          <p:nvPr/>
        </p:nvSpPr>
        <p:spPr>
          <a:xfrm>
            <a:off x="731520" y="2340864"/>
            <a:ext cx="219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helping enterprise teams adopt AI across Europe, since founding in 2017 with an agile team of 30 experts and engineers.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4389120" y="1554480"/>
            <a:ext cx="365700" cy="3657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8"/>
          <p:cNvSpPr txBox="1"/>
          <p:nvPr/>
        </p:nvSpPr>
        <p:spPr>
          <a:xfrm>
            <a:off x="4389120" y="15544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 txBox="1"/>
          <p:nvPr/>
        </p:nvSpPr>
        <p:spPr>
          <a:xfrm>
            <a:off x="3200400" y="202996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Montserrat"/>
                <a:ea typeface="Montserrat"/>
                <a:cs typeface="Montserrat"/>
                <a:sym typeface="Montserrat"/>
              </a:rPr>
              <a:t>140+ engagements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8"/>
          <p:cNvSpPr txBox="1"/>
          <p:nvPr/>
        </p:nvSpPr>
        <p:spPr>
          <a:xfrm>
            <a:off x="3474720" y="2340864"/>
            <a:ext cx="219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delivered across finance, healthcare, retail, manufacturing, and logistics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7132320" y="1554480"/>
            <a:ext cx="365700" cy="365700"/>
          </a:xfrm>
          <a:prstGeom prst="ellipse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 txBox="1"/>
          <p:nvPr/>
        </p:nvSpPr>
        <p:spPr>
          <a:xfrm>
            <a:off x="7132320" y="155448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 txBox="1"/>
          <p:nvPr/>
        </p:nvSpPr>
        <p:spPr>
          <a:xfrm>
            <a:off x="5943600" y="202996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82%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 txBox="1"/>
          <p:nvPr/>
        </p:nvSpPr>
        <p:spPr>
          <a:xfrm>
            <a:off x="6217920" y="2340864"/>
            <a:ext cx="219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E58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of pilots move into full production within 12 months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457200" y="3977640"/>
            <a:ext cx="8229600" cy="640200"/>
          </a:xfrm>
          <a:prstGeom prst="roundRect">
            <a:avLst>
              <a:gd fmla="val 8571" name="adj"/>
            </a:avLst>
          </a:prstGeom>
          <a:solidFill>
            <a:srgbClr val="F4F6F9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8"/>
          <p:cNvSpPr/>
          <p:nvPr/>
        </p:nvSpPr>
        <p:spPr>
          <a:xfrm>
            <a:off x="457200" y="4050792"/>
            <a:ext cx="41100" cy="493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8"/>
          <p:cNvSpPr txBox="1"/>
          <p:nvPr/>
        </p:nvSpPr>
        <p:spPr>
          <a:xfrm>
            <a:off x="731520" y="397764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“Nearly a decade of turning AI pilots into systems enterprise teams actually run.”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623" name="Google Shape;6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9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9"/>
          <p:cNvSpPr txBox="1"/>
          <p:nvPr/>
        </p:nvSpPr>
        <p:spPr>
          <a:xfrm>
            <a:off x="457200" y="292608"/>
            <a:ext cx="70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1A202C"/>
                </a:solidFill>
                <a:latin typeface="Montserrat"/>
                <a:ea typeface="Montserrat"/>
                <a:cs typeface="Montserrat"/>
                <a:sym typeface="Montserrat"/>
              </a:rPr>
              <a:t>Sources &amp; References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9"/>
          <p:cNvSpPr txBox="1"/>
          <p:nvPr/>
        </p:nvSpPr>
        <p:spPr>
          <a:xfrm>
            <a:off x="457200" y="786384"/>
            <a:ext cx="758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Where the numbers in this proposal come from — sourced where available, flagged where estimated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 txBox="1"/>
          <p:nvPr/>
        </p:nvSpPr>
        <p:spPr>
          <a:xfrm>
            <a:off x="457200" y="1188720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LABOR &amp; COST BENCHMARKS (SPAIN)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19"/>
          <p:cNvCxnSpPr/>
          <p:nvPr/>
        </p:nvCxnSpPr>
        <p:spPr>
          <a:xfrm>
            <a:off x="457200" y="156362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19"/>
          <p:cNvSpPr txBox="1"/>
          <p:nvPr/>
        </p:nvSpPr>
        <p:spPr>
          <a:xfrm>
            <a:off x="457200" y="139903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Barcelona logistics coordinator salary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 txBox="1"/>
          <p:nvPr/>
        </p:nvSpPr>
        <p:spPr>
          <a:xfrm>
            <a:off x="5486400" y="1399032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Glassdoor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1" name="Google Shape;631;p19"/>
          <p:cNvCxnSpPr/>
          <p:nvPr/>
        </p:nvCxnSpPr>
        <p:spPr>
          <a:xfrm>
            <a:off x="457200" y="174650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2" name="Google Shape;632;p19"/>
          <p:cNvSpPr txBox="1"/>
          <p:nvPr/>
        </p:nvSpPr>
        <p:spPr>
          <a:xfrm>
            <a:off x="457200" y="158191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Spain employer social security contribution rate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 txBox="1"/>
          <p:nvPr/>
        </p:nvSpPr>
        <p:spPr>
          <a:xfrm>
            <a:off x="5486400" y="1581912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Centre Gestor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19"/>
          <p:cNvCxnSpPr/>
          <p:nvPr/>
        </p:nvCxnSpPr>
        <p:spPr>
          <a:xfrm>
            <a:off x="457200" y="192938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p19"/>
          <p:cNvSpPr txBox="1"/>
          <p:nvPr/>
        </p:nvSpPr>
        <p:spPr>
          <a:xfrm>
            <a:off x="457200" y="176479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Spain standard working hours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 txBox="1"/>
          <p:nvPr/>
        </p:nvSpPr>
        <p:spPr>
          <a:xfrm>
            <a:off x="5486400" y="1764792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Rivermate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19"/>
          <p:cNvCxnSpPr/>
          <p:nvPr/>
        </p:nvCxnSpPr>
        <p:spPr>
          <a:xfrm>
            <a:off x="457200" y="2112264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8" name="Google Shape;638;p19"/>
          <p:cNvSpPr txBox="1"/>
          <p:nvPr/>
        </p:nvSpPr>
        <p:spPr>
          <a:xfrm>
            <a:off x="457200" y="1947672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Spain statutory leave entitlement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9"/>
          <p:cNvSpPr txBox="1"/>
          <p:nvPr/>
        </p:nvSpPr>
        <p:spPr>
          <a:xfrm>
            <a:off x="5486400" y="1947672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Boundless HQ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 txBox="1"/>
          <p:nvPr/>
        </p:nvSpPr>
        <p:spPr>
          <a:xfrm>
            <a:off x="457200" y="2203704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FREIGHT &amp; LOGISTICS BENCHMARKS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p19"/>
          <p:cNvCxnSpPr/>
          <p:nvPr/>
        </p:nvCxnSpPr>
        <p:spPr>
          <a:xfrm>
            <a:off x="457200" y="257860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9"/>
          <p:cNvSpPr txBox="1"/>
          <p:nvPr/>
        </p:nvSpPr>
        <p:spPr>
          <a:xfrm>
            <a:off x="457200" y="2414016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Freight-forwarder margin benchmarks (5–6%)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 txBox="1"/>
          <p:nvPr/>
        </p:nvSpPr>
        <p:spPr>
          <a:xfrm>
            <a:off x="5486400" y="2414016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GoFreight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19"/>
          <p:cNvCxnSpPr/>
          <p:nvPr/>
        </p:nvCxnSpPr>
        <p:spPr>
          <a:xfrm>
            <a:off x="457200" y="2761488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p19"/>
          <p:cNvSpPr txBox="1"/>
          <p:nvPr/>
        </p:nvSpPr>
        <p:spPr>
          <a:xfrm>
            <a:off x="457200" y="2596896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European road freight rate benchmark, €/load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 txBox="1"/>
          <p:nvPr/>
        </p:nvSpPr>
        <p:spPr>
          <a:xfrm>
            <a:off x="5486400" y="2596896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Trans-road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 txBox="1"/>
          <p:nvPr/>
        </p:nvSpPr>
        <p:spPr>
          <a:xfrm>
            <a:off x="457200" y="2852928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SAP, TECHNOLOGY &amp; AI CONSULTING DAY-RATES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8" name="Google Shape;648;p19"/>
          <p:cNvCxnSpPr/>
          <p:nvPr/>
        </p:nvCxnSpPr>
        <p:spPr>
          <a:xfrm>
            <a:off x="457200" y="322783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19"/>
          <p:cNvSpPr txBox="1"/>
          <p:nvPr/>
        </p:nvSpPr>
        <p:spPr>
          <a:xfrm>
            <a:off x="457200" y="3063240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SAP ECC 6.0 end-of-mainstream-maintenance timeline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 txBox="1"/>
          <p:nvPr/>
        </p:nvSpPr>
        <p:spPr>
          <a:xfrm>
            <a:off x="5486400" y="3063240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TalentMSH — ECC 6.0 End of Life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" name="Google Shape;651;p19"/>
          <p:cNvCxnSpPr/>
          <p:nvPr/>
        </p:nvCxnSpPr>
        <p:spPr>
          <a:xfrm>
            <a:off x="457200" y="341071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19"/>
          <p:cNvSpPr txBox="1"/>
          <p:nvPr/>
        </p:nvSpPr>
        <p:spPr>
          <a:xfrm>
            <a:off x="457200" y="3246120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SAP S/4HANA migration cost benchmark ($1M–$8M+, 60%+ over budget)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 txBox="1"/>
          <p:nvPr/>
        </p:nvSpPr>
        <p:spPr>
          <a:xfrm>
            <a:off x="5486400" y="3246120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Tachyon Tech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4" name="Google Shape;654;p19"/>
          <p:cNvCxnSpPr/>
          <p:nvPr/>
        </p:nvCxnSpPr>
        <p:spPr>
          <a:xfrm>
            <a:off x="498300" y="3599122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19"/>
          <p:cNvSpPr txBox="1"/>
          <p:nvPr/>
        </p:nvSpPr>
        <p:spPr>
          <a:xfrm>
            <a:off x="457200" y="3410705"/>
            <a:ext cx="493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70"/>
              <a:buFont typeface="Inter"/>
              <a:buNone/>
            </a:pPr>
            <a:r>
              <a:rPr b="0" i="0" lang="en-US" sz="87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EU SME AI consulting market sizing, 2026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9"/>
          <p:cNvSpPr txBox="1"/>
          <p:nvPr/>
        </p:nvSpPr>
        <p:spPr>
          <a:xfrm>
            <a:off x="5486400" y="3428993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3878E"/>
              </a:buClr>
              <a:buSzPts val="800"/>
              <a:buFont typeface="Inter"/>
              <a:buNone/>
            </a:pPr>
            <a:r>
              <a:rPr b="0" i="1" lang="en-US" sz="800" u="none" cap="none" strike="noStrike">
                <a:solidFill>
                  <a:srgbClr val="83878E"/>
                </a:solidFill>
                <a:latin typeface="Inter"/>
                <a:ea typeface="Inter"/>
                <a:cs typeface="Inter"/>
                <a:sym typeface="Inter"/>
              </a:rPr>
              <a:t>EU SME AI Consulting Market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457200" y="3802807"/>
            <a:ext cx="8229600" cy="567000"/>
          </a:xfrm>
          <a:prstGeom prst="roundRect">
            <a:avLst>
              <a:gd fmla="val 9677" name="adj"/>
            </a:avLst>
          </a:prstGeom>
          <a:solidFill>
            <a:srgbClr val="E3F7FB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457200" y="3875959"/>
            <a:ext cx="41100" cy="420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9"/>
          <p:cNvSpPr txBox="1"/>
          <p:nvPr/>
        </p:nvSpPr>
        <p:spPr>
          <a:xfrm>
            <a:off x="658368" y="3802807"/>
            <a:ext cx="7827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830"/>
              <a:buFont typeface="Inter"/>
              <a:buNone/>
            </a:pPr>
            <a:r>
              <a:rPr b="1" i="0" lang="en-US" sz="830" u="none" cap="none" strike="noStrike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Annex — Business Case &amp; Cost Breakdown. </a:t>
            </a:r>
            <a:r>
              <a:rPr b="0" i="0" lang="en-US" sz="83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Every number in this proposal is documented across the Transiberia Business Case workbook (assumptions, formulas, cell-level sources) and the SilverTrust n8n Cost Breakdown &amp; Consultancy Build Cost (per-integration costs, 3-tier day-rate comparison, AI-consultant feasibility assessment). </a:t>
            </a:r>
            <a:r>
              <a:rPr b="1" i="0" lang="en-US" sz="83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Open the Business Case model →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9"/>
          <p:cNvSpPr/>
          <p:nvPr/>
        </p:nvSpPr>
        <p:spPr>
          <a:xfrm>
            <a:off x="457200" y="4442887"/>
            <a:ext cx="8229600" cy="512100"/>
          </a:xfrm>
          <a:prstGeom prst="roundRect">
            <a:avLst>
              <a:gd fmla="val 10714" name="adj"/>
            </a:avLst>
          </a:prstGeom>
          <a:solidFill>
            <a:srgbClr val="FDF1E4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9"/>
          <p:cNvSpPr/>
          <p:nvPr/>
        </p:nvSpPr>
        <p:spPr>
          <a:xfrm>
            <a:off x="457200" y="4516039"/>
            <a:ext cx="41100" cy="3657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9"/>
          <p:cNvSpPr txBox="1"/>
          <p:nvPr/>
        </p:nvSpPr>
        <p:spPr>
          <a:xfrm>
            <a:off x="658368" y="4442887"/>
            <a:ext cx="7827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39"/>
              <a:buFont typeface="Inter"/>
              <a:buNone/>
            </a:pPr>
            <a:r>
              <a:rPr b="1" i="0" lang="en-US" sz="84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Not independently sourced: </a:t>
            </a:r>
            <a:r>
              <a:rPr b="0" i="0" lang="en-US" sz="840" u="none" cap="none" strike="noStrike">
                <a:solidFill>
                  <a:srgbClr val="494E58"/>
                </a:solidFill>
                <a:latin typeface="Inter"/>
                <a:ea typeface="Inter"/>
                <a:cs typeface="Inter"/>
                <a:sym typeface="Inter"/>
              </a:rPr>
              <a:t>VPS, WhatsApp template and GPS tracking running costs are SilverTrust planning estimates pending final vendor quotes (Hetzner, Meta, Webfleet/Teltonika) and the Phase 0 assessment (see Annex above for detail).</a:t>
            </a:r>
            <a:endParaRPr b="0" i="0" sz="8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ilvertrust/transiberia_v2/asset_silvertrust_badge.png" id="668" name="Google Shape;6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2672" y="301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0"/>
          <p:cNvSpPr txBox="1"/>
          <p:nvPr/>
        </p:nvSpPr>
        <p:spPr>
          <a:xfrm>
            <a:off x="7973568" y="30175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CC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B7C1CC"/>
                </a:solidFill>
                <a:latin typeface="Montserrat"/>
                <a:ea typeface="Montserrat"/>
                <a:cs typeface="Montserrat"/>
                <a:sym typeface="Montserrat"/>
              </a:rPr>
              <a:t>Silver</a:t>
            </a:r>
            <a:r>
              <a:rPr b="1" i="0" lang="en-US" sz="1100" u="none" cap="none" strike="noStrike">
                <a:solidFill>
                  <a:srgbClr val="F3F6F8"/>
                </a:solidFill>
                <a:latin typeface="Montserrat"/>
                <a:ea typeface="Montserrat"/>
                <a:cs typeface="Montserrat"/>
                <a:sym typeface="Montserrat"/>
              </a:rPr>
              <a:t>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0"/>
          <p:cNvSpPr txBox="1"/>
          <p:nvPr/>
        </p:nvSpPr>
        <p:spPr>
          <a:xfrm>
            <a:off x="457200" y="1005840"/>
            <a:ext cx="5120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“AI-native from day one. Live in 20 weeks, under €</a:t>
            </a: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150</a:t>
            </a: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 all-in, paying back more than </a:t>
            </a: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 in year one — the foundation to scale with confidence.”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 txBox="1"/>
          <p:nvPr/>
        </p:nvSpPr>
        <p:spPr>
          <a:xfrm>
            <a:off x="457200" y="3063240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— SilverTrust, on partnering with Transiberia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 txBox="1"/>
          <p:nvPr/>
        </p:nvSpPr>
        <p:spPr>
          <a:xfrm>
            <a:off x="5623560" y="1051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YOUR TRANSFORMATION PARTNERS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ilvertrust/transiberia_v2/asset_headshot_ioanna.png" id="673" name="Google Shape;6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560" y="141732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0"/>
          <p:cNvSpPr txBox="1"/>
          <p:nvPr/>
        </p:nvSpPr>
        <p:spPr>
          <a:xfrm>
            <a:off x="6355080" y="1389888"/>
            <a:ext cx="2377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Ioanna Renta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0"/>
          <p:cNvSpPr txBox="1"/>
          <p:nvPr/>
        </p:nvSpPr>
        <p:spPr>
          <a:xfrm>
            <a:off x="6355080" y="160020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Sr AI Consultant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0"/>
          <p:cNvSpPr txBox="1"/>
          <p:nvPr/>
        </p:nvSpPr>
        <p:spPr>
          <a:xfrm>
            <a:off x="6355080" y="180136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Ioanna.Renta@silvertrust.co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ilvertrust/transiberia_v2/asset_headshot_elizabeta.png" id="677" name="Google Shape;6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23560" y="26060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20"/>
          <p:cNvSpPr txBox="1"/>
          <p:nvPr/>
        </p:nvSpPr>
        <p:spPr>
          <a:xfrm>
            <a:off x="6355080" y="2578608"/>
            <a:ext cx="2377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Elizabeta Marku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0"/>
          <p:cNvSpPr txBox="1"/>
          <p:nvPr/>
        </p:nvSpPr>
        <p:spPr>
          <a:xfrm>
            <a:off x="6355080" y="278892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50"/>
              <a:buFont typeface="Inter"/>
              <a:buNone/>
            </a:pPr>
            <a:r>
              <a:rPr b="1" lang="en-US" sz="1050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AI </a:t>
            </a:r>
            <a:r>
              <a:rPr b="1" i="0" lang="en-US" sz="10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Integration Consultant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0"/>
          <p:cNvSpPr txBox="1"/>
          <p:nvPr/>
        </p:nvSpPr>
        <p:spPr>
          <a:xfrm>
            <a:off x="6355080" y="2990088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2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DB2BA"/>
                </a:solidFill>
                <a:latin typeface="Inter"/>
                <a:ea typeface="Inter"/>
                <a:cs typeface="Inter"/>
                <a:sym typeface="Inter"/>
              </a:rPr>
              <a:t>Elizabeta.Marke@silvertrust.co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